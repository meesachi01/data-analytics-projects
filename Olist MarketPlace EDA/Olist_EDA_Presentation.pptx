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joining. Today I'll walk you through an exploratory data analysis of Olist, one of Brazil's largest e-commerce marketplaces. Olist connects thousands of independent sellers with customers across the entire country. I analyzed two full years of marketplace data, from September 2016 to August 2018, covering customers, orders, payments, reviews, products, sellers, and geolocation. Over that period the marketplace generated fifteen and a half million reais in revenue across roughly ninety-six and a half thousand orders, served by nearly three thousand active sellers, with an average customer rating of 4.08 out of 5. My goal today is to show you where that growth came from, how operations improved, and where the biggest opportunities lie.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for the next ten minutes or so. I'll start briefly with how the data was prepared and the tools I used. Then we'll look at the headline numbers for the business as a whole. From there we'll get into the interesting part: how sales and delivery performance evolved week by week, and how the two are connected. Then two Pareto analyses that show just how concentrated revenue is, both geographically and by product category. After that, a segmentation of the seller base using the RFM model, and we'll finish with the conclusions and the concrete recommendations that come out of all of this.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the first phase was all about understanding and validating the data. The Olist dataset is relational — separate tables for customers, orders, order items, payments, reviews, products, sellers, and geolocation — so I mapped how they connect and confirmed the data could answer our business questions. All extraction happened in Google BigQuery. I wrote SQL to join the tables, checked quality and completeness, and created calculated fields to enrich the analysis. I then ran a dedicated seller segmentation using the RFM model — recency, frequency, monetary — which we'll see later. Finally everything was loaded into Tableau as an interactive dashboard, so stakeholders can filter by time, region, delivery status, and seller segment without needing any extra data processing.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big picture. Over the two-year window the marketplace generated fifteen point four nine million reais in total revenue, from 96,478 completed orders placed by 96,478 unique customers — so effectively one order per customer, which is itself an interesting signal about repeat purchasing. On the supply side, 2,970 sellers were active on the platform. And customer satisfaction held up well: the average review score across the whole period was 4.08 out of 5. These five KPIs sit at the top of the Tableau dashboard, so anyone opening it gets an immediate read on the health of the business before drilling into the detail.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favorite chart in the whole analysis, because it tells two stories at once. The blue line is weekly revenue; the orange line is average delivery time. Revenue shows a strong, consistent upward trend across the two years, with some seasonal spikes — the biggest being the week of December 18th, 2017, at nearly 470 thousand reais. Average weekly revenue was around 170 thousand. Meanwhile the orange line goes the opposite direction: average delivery time started at 54 days at the very beginning of the marketplace, and by the end of the period it was down to just 2 days. The overall average settled at 12.6 days, on a clear downward trend. So as logistics matured, sales grew — the two curves crossing is really the story of this marketplace scaling up.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out to a year-over-year view makes the growth even clearer. In the earlier twelve months, the marketplace generated three point four nine million reais. In the most recent twelve months, that jumped to twelve million — an increase of roughly 244 percent. Put another way, the latest year alone accounts for about 77 and a half percent of everything the marketplace has ever earned in this dataset. That's the signature of a business in genuine expansion mode, not just steady-state growth — and it raises the question of what was enabling it operationally, which brings us to delivery performance.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reliable was fulfillment while the business was tripling? Very. Out of roughly ninety-six and a half thousand orders, 91.88 percent were delivered on time — on or before the estimated delivery date the customer was shown. Only 8.12 percent arrived late. For a marketplace model, where fulfillment depends on thousands of independent sellers shipping across a country the size of Brazil, that's a strong result. And it matters beyond logistics: delivery experience is one of the strongest drivers of review scores. That 4.08-star average we saw earlier rests heavily on this on-time performance. Improvements in logistics supported both the sales growth and customer satisfaction.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where does the money come from geographically? The answer is: a surprisingly small number of places. São Paulo alone generates roughly a third of all revenue — it towers over every other state. Add Rio de Janeiro and Minas Gerais and you've covered the biggest share of sales. Following the classic Pareto 80/20 principle, the top eight states account for about 81 percent of total revenue, leaving only around 19 percent for all the rest. After the leaders, revenue drops off sharply into a long tail of low-performing regions. Strategically that cuts two ways: we need to protect engagement in the core markets, but that long tail also represents real headroom for regional marketing and seller acquisition.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same pattern shows up in the product portfolio. Health and Beauty is the single biggest revenue generator, followed by Watches and Gifts, and Bed, Bath and Table. Revenue across categories is highly skewed: the top fifteen product categories contribute approximately 81 percent of total revenue, while all the remaining categories combined contribute less than 20. After the leaders, revenue decreases steadily into a long tail of niche categories. So the portfolio mirrors the geography — concentration at the top, opportunity in the tail. The playbook is to keep strengthening the proven winners while using promotion and better product visibility to test which of the smaller categories can break out.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supply side. Using the RFM model — recency, frequency, and monetary value — I classified all sellers into six performance groups. The headline: Top Sellers, just 412 of them, generate 8.33 million reais — that's 14 percent of the seller base producing more than half of all marketplace revenue. Behind them, 687 Potential Top Sellers contribute nearly 3.5 million, and they're the most promising group to develop. On the risk side, 394 At-Risk sellers still generate 2.8 million, so retention there protects real money. And the largest segment by headcount — Needs Attention, with 699 sellers — contributes only 673 thousand. Novice and Promising sellers contribute the least, which makes them candidates for onboarding and development programs. [~65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pull the threads together into five conclusions. One: this is a business in rapid growth — fifteen and a half million in total revenue, up 244 percent year over year. Two: operations transformed alongside it. Delivery time collapsed from 54 days to 2, while nearly 92 percent of orders arrived on time. Three: revenue follows the Pareto principle wherever you look — eight states and fifteen categories each cover about 81 percent of sales. Four: the supply side is just as concentrated — top sellers, a small fraction of the base, generate more than half of revenue. And five: customers are broadly satisfied at 4.08 stars, which the improving delivery experience clearly supports.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should the business actually do? Six things. First, invest in the underperforming regions — localized marketing, promotions, and seller acquisition outside the top states, because that long tail is untapped demand. Second, strengthen the winning product categories while giving promising niches more visibility. Third, protect the crown jewels: retain top sellers with loyalty programs, incentives, and dedicated support. Fourth, develop mid-tier and emerging sellers through training and guidance, so revenue isn't dependent on such a small group. Fifth, keep investing in logistics — the on-time rate is a competitive asset worth defending. And sixth, make the Tableau dashboard part of the operating rhythm, so these KPIs are monitored continuously rather than analyzed once. Overall, this analysis shows how data-driven decision-making can connect sales, logistics, customer experience, and seller performance into one coherent growth story. Thank you — happy to take questions.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44"/>
        </a:solidFill>
      </p:bgPr>
    </p:bg>
    <p:spTree>
      <p:nvGrpSpPr>
        <p:cNvPr id="1" name=""/>
        <p:cNvGrpSpPr/>
        <p:nvPr/>
      </p:nvGrpSpPr>
      <p:grpSpPr>
        <a:xfrm>
          <a:off x="0" y="0"/>
          <a:ext cx="0" cy="0"/>
          <a:chOff x="0" y="0"/>
          <a:chExt cx="0" cy="0"/>
        </a:xfrm>
      </p:grpSpPr>
      <p:sp>
        <p:nvSpPr>
          <p:cNvPr id="2" name="Shape 0"/>
          <p:cNvSpPr/>
          <p:nvPr/>
        </p:nvSpPr>
        <p:spPr>
          <a:xfrm>
            <a:off x="8961120" y="-2011680"/>
            <a:ext cx="5943600" cy="5943600"/>
          </a:xfrm>
          <a:prstGeom prst="ellipse">
            <a:avLst/>
          </a:prstGeom>
          <a:solidFill>
            <a:srgbClr val="13315C"/>
          </a:solidFill>
          <a:ln/>
        </p:spPr>
      </p:sp>
      <p:sp>
        <p:nvSpPr>
          <p:cNvPr id="3" name="Shape 1"/>
          <p:cNvSpPr/>
          <p:nvPr/>
        </p:nvSpPr>
        <p:spPr>
          <a:xfrm>
            <a:off x="-2194560" y="4480560"/>
            <a:ext cx="5029200" cy="5029200"/>
          </a:xfrm>
          <a:prstGeom prst="ellipse">
            <a:avLst/>
          </a:prstGeom>
          <a:solidFill>
            <a:srgbClr val="13315C"/>
          </a:solidFill>
          <a:ln/>
        </p:spPr>
      </p:sp>
      <p:sp>
        <p:nvSpPr>
          <p:cNvPr id="4" name="Text 2"/>
          <p:cNvSpPr/>
          <p:nvPr/>
        </p:nvSpPr>
        <p:spPr>
          <a:xfrm>
            <a:off x="914400" y="1828800"/>
            <a:ext cx="10058400" cy="365760"/>
          </a:xfrm>
          <a:prstGeom prst="rect">
            <a:avLst/>
          </a:prstGeom>
          <a:noFill/>
          <a:ln/>
        </p:spPr>
        <p:txBody>
          <a:bodyPr wrap="square" lIns="0" tIns="0" rIns="0" bIns="0" rtlCol="0" anchor="ctr"/>
          <a:lstStyle/>
          <a:p>
            <a:pPr indent="0" marL="0">
              <a:buNone/>
            </a:pPr>
            <a:r>
              <a:rPr lang="en-US" sz="1400" b="1" spc="300" kern="0" dirty="0">
                <a:solidFill>
                  <a:srgbClr val="8FB4EE"/>
                </a:solidFill>
                <a:latin typeface="Calibri" pitchFamily="34" charset="0"/>
                <a:ea typeface="Calibri" pitchFamily="34" charset="-122"/>
                <a:cs typeface="Calibri" pitchFamily="34" charset="-120"/>
              </a:rPr>
              <a:t>EXPLORATORY DATA ANALYSIS  •  SQL + TABLEAU</a:t>
            </a:r>
            <a:endParaRPr lang="en-US" sz="1400" dirty="0"/>
          </a:p>
        </p:txBody>
      </p:sp>
      <p:sp>
        <p:nvSpPr>
          <p:cNvPr id="5" name="Text 3"/>
          <p:cNvSpPr/>
          <p:nvPr/>
        </p:nvSpPr>
        <p:spPr>
          <a:xfrm>
            <a:off x="914400" y="2240280"/>
            <a:ext cx="10332720" cy="18288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Olist Marketplace:</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Drives Growth in Brazilian E-Commerce</a:t>
            </a:r>
            <a:endParaRPr lang="en-US" sz="4000" dirty="0"/>
          </a:p>
        </p:txBody>
      </p:sp>
      <p:sp>
        <p:nvSpPr>
          <p:cNvPr id="6" name="Text 4"/>
          <p:cNvSpPr/>
          <p:nvPr/>
        </p:nvSpPr>
        <p:spPr>
          <a:xfrm>
            <a:off x="914400" y="4160520"/>
            <a:ext cx="9601200" cy="457200"/>
          </a:xfrm>
          <a:prstGeom prst="rect">
            <a:avLst/>
          </a:prstGeom>
          <a:noFill/>
          <a:ln/>
        </p:spPr>
        <p:txBody>
          <a:bodyPr wrap="square" lIns="0" tIns="0" rIns="0" bIns="0" rtlCol="0" anchor="ctr"/>
          <a:lstStyle/>
          <a:p>
            <a:pPr indent="0" marL="0">
              <a:buNone/>
            </a:pPr>
            <a:r>
              <a:rPr lang="en-US" sz="1600" dirty="0">
                <a:solidFill>
                  <a:srgbClr val="C9D8F2"/>
                </a:solidFill>
                <a:latin typeface="Calibri" pitchFamily="34" charset="0"/>
                <a:ea typeface="Calibri" pitchFamily="34" charset="-122"/>
                <a:cs typeface="Calibri" pitchFamily="34" charset="-120"/>
              </a:rPr>
              <a:t>Revenue, delivery performance, and the seller ecosystem — September 2016 to August 2018</a:t>
            </a:r>
            <a:endParaRPr lang="en-US" sz="1600" dirty="0"/>
          </a:p>
        </p:txBody>
      </p:sp>
      <p:sp>
        <p:nvSpPr>
          <p:cNvPr id="7" name="Text 5"/>
          <p:cNvSpPr/>
          <p:nvPr/>
        </p:nvSpPr>
        <p:spPr>
          <a:xfrm>
            <a:off x="914400" y="5029200"/>
            <a:ext cx="2468880" cy="457200"/>
          </a:xfrm>
          <a:prstGeom prst="rect">
            <a:avLst/>
          </a:prstGeom>
          <a:noFill/>
          <a:ln/>
        </p:spPr>
        <p:txBody>
          <a:bodyPr wrap="square" lIns="0" tIns="0" rIns="0" bIns="0" rtlCol="0" anchor="ctr"/>
          <a:lstStyle/>
          <a:p>
            <a:pPr indent="0" marL="0">
              <a:buNone/>
            </a:pPr>
            <a:r>
              <a:rPr lang="en-US" sz="2400" b="1" dirty="0">
                <a:solidFill>
                  <a:srgbClr val="E8792B"/>
                </a:solidFill>
                <a:latin typeface="Cambria" pitchFamily="34" charset="0"/>
                <a:ea typeface="Cambria" pitchFamily="34" charset="-122"/>
                <a:cs typeface="Cambria" pitchFamily="34" charset="-120"/>
              </a:rPr>
              <a:t>R$ 15.49M</a:t>
            </a:r>
            <a:endParaRPr lang="en-US" sz="2400" dirty="0"/>
          </a:p>
        </p:txBody>
      </p:sp>
      <p:sp>
        <p:nvSpPr>
          <p:cNvPr id="8" name="Text 6"/>
          <p:cNvSpPr/>
          <p:nvPr/>
        </p:nvSpPr>
        <p:spPr>
          <a:xfrm>
            <a:off x="914400" y="5486400"/>
            <a:ext cx="2468880" cy="292608"/>
          </a:xfrm>
          <a:prstGeom prst="rect">
            <a:avLst/>
          </a:prstGeom>
          <a:noFill/>
          <a:ln/>
        </p:spPr>
        <p:txBody>
          <a:bodyPr wrap="square" lIns="0" tIns="0" rIns="0" bIns="0" rtlCol="0" anchor="ctr"/>
          <a:lstStyle/>
          <a:p>
            <a:pPr indent="0" marL="0">
              <a:buNone/>
            </a:pPr>
            <a:r>
              <a:rPr lang="en-US" sz="1200" dirty="0">
                <a:solidFill>
                  <a:srgbClr val="9FB8E0"/>
                </a:solidFill>
                <a:latin typeface="Calibri" pitchFamily="34" charset="0"/>
                <a:ea typeface="Calibri" pitchFamily="34" charset="-122"/>
                <a:cs typeface="Calibri" pitchFamily="34" charset="-120"/>
              </a:rPr>
              <a:t>Total revenue</a:t>
            </a:r>
            <a:endParaRPr lang="en-US" sz="1200" dirty="0"/>
          </a:p>
        </p:txBody>
      </p:sp>
      <p:sp>
        <p:nvSpPr>
          <p:cNvPr id="9" name="Text 7"/>
          <p:cNvSpPr/>
          <p:nvPr/>
        </p:nvSpPr>
        <p:spPr>
          <a:xfrm>
            <a:off x="3566160" y="5029200"/>
            <a:ext cx="2468880" cy="457200"/>
          </a:xfrm>
          <a:prstGeom prst="rect">
            <a:avLst/>
          </a:prstGeom>
          <a:noFill/>
          <a:ln/>
        </p:spPr>
        <p:txBody>
          <a:bodyPr wrap="square" lIns="0" tIns="0" rIns="0" bIns="0" rtlCol="0" anchor="ctr"/>
          <a:lstStyle/>
          <a:p>
            <a:pPr indent="0" marL="0">
              <a:buNone/>
            </a:pPr>
            <a:r>
              <a:rPr lang="en-US" sz="2400" b="1" dirty="0">
                <a:solidFill>
                  <a:srgbClr val="E8792B"/>
                </a:solidFill>
                <a:latin typeface="Cambria" pitchFamily="34" charset="0"/>
                <a:ea typeface="Cambria" pitchFamily="34" charset="-122"/>
                <a:cs typeface="Cambria" pitchFamily="34" charset="-120"/>
              </a:rPr>
              <a:t>96,478</a:t>
            </a:r>
            <a:endParaRPr lang="en-US" sz="2400" dirty="0"/>
          </a:p>
        </p:txBody>
      </p:sp>
      <p:sp>
        <p:nvSpPr>
          <p:cNvPr id="10" name="Text 8"/>
          <p:cNvSpPr/>
          <p:nvPr/>
        </p:nvSpPr>
        <p:spPr>
          <a:xfrm>
            <a:off x="3566160" y="5486400"/>
            <a:ext cx="2468880" cy="292608"/>
          </a:xfrm>
          <a:prstGeom prst="rect">
            <a:avLst/>
          </a:prstGeom>
          <a:noFill/>
          <a:ln/>
        </p:spPr>
        <p:txBody>
          <a:bodyPr wrap="square" lIns="0" tIns="0" rIns="0" bIns="0" rtlCol="0" anchor="ctr"/>
          <a:lstStyle/>
          <a:p>
            <a:pPr indent="0" marL="0">
              <a:buNone/>
            </a:pPr>
            <a:r>
              <a:rPr lang="en-US" sz="1200" dirty="0">
                <a:solidFill>
                  <a:srgbClr val="9FB8E0"/>
                </a:solidFill>
                <a:latin typeface="Calibri" pitchFamily="34" charset="0"/>
                <a:ea typeface="Calibri" pitchFamily="34" charset="-122"/>
                <a:cs typeface="Calibri" pitchFamily="34" charset="-120"/>
              </a:rPr>
              <a:t>Orders</a:t>
            </a:r>
            <a:endParaRPr lang="en-US" sz="1200" dirty="0"/>
          </a:p>
        </p:txBody>
      </p:sp>
      <p:sp>
        <p:nvSpPr>
          <p:cNvPr id="11" name="Text 9"/>
          <p:cNvSpPr/>
          <p:nvPr/>
        </p:nvSpPr>
        <p:spPr>
          <a:xfrm>
            <a:off x="6217920" y="5029200"/>
            <a:ext cx="2468880" cy="457200"/>
          </a:xfrm>
          <a:prstGeom prst="rect">
            <a:avLst/>
          </a:prstGeom>
          <a:noFill/>
          <a:ln/>
        </p:spPr>
        <p:txBody>
          <a:bodyPr wrap="square" lIns="0" tIns="0" rIns="0" bIns="0" rtlCol="0" anchor="ctr"/>
          <a:lstStyle/>
          <a:p>
            <a:pPr indent="0" marL="0">
              <a:buNone/>
            </a:pPr>
            <a:r>
              <a:rPr lang="en-US" sz="2400" b="1" dirty="0">
                <a:solidFill>
                  <a:srgbClr val="E8792B"/>
                </a:solidFill>
                <a:latin typeface="Cambria" pitchFamily="34" charset="0"/>
                <a:ea typeface="Cambria" pitchFamily="34" charset="-122"/>
                <a:cs typeface="Cambria" pitchFamily="34" charset="-120"/>
              </a:rPr>
              <a:t>2,970</a:t>
            </a:r>
            <a:endParaRPr lang="en-US" sz="2400" dirty="0"/>
          </a:p>
        </p:txBody>
      </p:sp>
      <p:sp>
        <p:nvSpPr>
          <p:cNvPr id="12" name="Text 10"/>
          <p:cNvSpPr/>
          <p:nvPr/>
        </p:nvSpPr>
        <p:spPr>
          <a:xfrm>
            <a:off x="6217920" y="5486400"/>
            <a:ext cx="2468880" cy="292608"/>
          </a:xfrm>
          <a:prstGeom prst="rect">
            <a:avLst/>
          </a:prstGeom>
          <a:noFill/>
          <a:ln/>
        </p:spPr>
        <p:txBody>
          <a:bodyPr wrap="square" lIns="0" tIns="0" rIns="0" bIns="0" rtlCol="0" anchor="ctr"/>
          <a:lstStyle/>
          <a:p>
            <a:pPr indent="0" marL="0">
              <a:buNone/>
            </a:pPr>
            <a:r>
              <a:rPr lang="en-US" sz="1200" dirty="0">
                <a:solidFill>
                  <a:srgbClr val="9FB8E0"/>
                </a:solidFill>
                <a:latin typeface="Calibri" pitchFamily="34" charset="0"/>
                <a:ea typeface="Calibri" pitchFamily="34" charset="-122"/>
                <a:cs typeface="Calibri" pitchFamily="34" charset="-120"/>
              </a:rPr>
              <a:t>Active sellers</a:t>
            </a:r>
            <a:endParaRPr lang="en-US" sz="1200" dirty="0"/>
          </a:p>
        </p:txBody>
      </p:sp>
      <p:sp>
        <p:nvSpPr>
          <p:cNvPr id="13" name="Text 11"/>
          <p:cNvSpPr/>
          <p:nvPr/>
        </p:nvSpPr>
        <p:spPr>
          <a:xfrm>
            <a:off x="8869680" y="5029200"/>
            <a:ext cx="2468880" cy="457200"/>
          </a:xfrm>
          <a:prstGeom prst="rect">
            <a:avLst/>
          </a:prstGeom>
          <a:noFill/>
          <a:ln/>
        </p:spPr>
        <p:txBody>
          <a:bodyPr wrap="square" lIns="0" tIns="0" rIns="0" bIns="0" rtlCol="0" anchor="ctr"/>
          <a:lstStyle/>
          <a:p>
            <a:pPr indent="0" marL="0">
              <a:buNone/>
            </a:pPr>
            <a:r>
              <a:rPr lang="en-US" sz="2400" b="1" dirty="0">
                <a:solidFill>
                  <a:srgbClr val="E8792B"/>
                </a:solidFill>
                <a:latin typeface="Cambria" pitchFamily="34" charset="0"/>
                <a:ea typeface="Cambria" pitchFamily="34" charset="-122"/>
                <a:cs typeface="Cambria" pitchFamily="34" charset="-120"/>
              </a:rPr>
              <a:t>4.08 / 5</a:t>
            </a:r>
            <a:endParaRPr lang="en-US" sz="2400" dirty="0"/>
          </a:p>
        </p:txBody>
      </p:sp>
      <p:sp>
        <p:nvSpPr>
          <p:cNvPr id="14" name="Text 12"/>
          <p:cNvSpPr/>
          <p:nvPr/>
        </p:nvSpPr>
        <p:spPr>
          <a:xfrm>
            <a:off x="8869680" y="5486400"/>
            <a:ext cx="2468880" cy="292608"/>
          </a:xfrm>
          <a:prstGeom prst="rect">
            <a:avLst/>
          </a:prstGeom>
          <a:noFill/>
          <a:ln/>
        </p:spPr>
        <p:txBody>
          <a:bodyPr wrap="square" lIns="0" tIns="0" rIns="0" bIns="0" rtlCol="0" anchor="ctr"/>
          <a:lstStyle/>
          <a:p>
            <a:pPr indent="0" marL="0">
              <a:buNone/>
            </a:pPr>
            <a:r>
              <a:rPr lang="en-US" sz="1200" dirty="0">
                <a:solidFill>
                  <a:srgbClr val="9FB8E0"/>
                </a:solidFill>
                <a:latin typeface="Calibri" pitchFamily="34" charset="0"/>
                <a:ea typeface="Calibri" pitchFamily="34" charset="-122"/>
                <a:cs typeface="Calibri" pitchFamily="34" charset="-120"/>
              </a:rPr>
              <a:t>Avg.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What We'll Cover Today</a:t>
            </a:r>
            <a:endParaRPr lang="en-US" sz="3200" dirty="0"/>
          </a:p>
        </p:txBody>
      </p:sp>
      <p:sp>
        <p:nvSpPr>
          <p:cNvPr id="4" name="Shape 2"/>
          <p:cNvSpPr/>
          <p:nvPr/>
        </p:nvSpPr>
        <p:spPr>
          <a:xfrm>
            <a:off x="548640" y="1737360"/>
            <a:ext cx="5440680" cy="1325880"/>
          </a:xfrm>
          <a:prstGeom prst="roundRect">
            <a:avLst>
              <a:gd name="adj" fmla="val 5517"/>
            </a:avLst>
          </a:prstGeom>
          <a:solidFill>
            <a:srgbClr val="F4F7FB"/>
          </a:solidFill>
          <a:ln w="9525">
            <a:solidFill>
              <a:srgbClr val="DDE5EF"/>
            </a:solidFill>
            <a:prstDash val="solid"/>
          </a:ln>
        </p:spPr>
      </p:sp>
      <p:sp>
        <p:nvSpPr>
          <p:cNvPr id="5" name="Shape 3"/>
          <p:cNvSpPr/>
          <p:nvPr/>
        </p:nvSpPr>
        <p:spPr>
          <a:xfrm>
            <a:off x="777240" y="2121408"/>
            <a:ext cx="548640" cy="548640"/>
          </a:xfrm>
          <a:prstGeom prst="ellipse">
            <a:avLst/>
          </a:prstGeom>
          <a:solidFill>
            <a:srgbClr val="13315C"/>
          </a:solidFill>
          <a:ln/>
        </p:spPr>
      </p:sp>
      <p:sp>
        <p:nvSpPr>
          <p:cNvPr id="6" name="Text 4"/>
          <p:cNvSpPr/>
          <p:nvPr/>
        </p:nvSpPr>
        <p:spPr>
          <a:xfrm>
            <a:off x="777240" y="21214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938528"/>
            <a:ext cx="4297680" cy="3657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Data &amp; Methodology</a:t>
            </a:r>
            <a:endParaRPr lang="en-US" sz="1600" dirty="0"/>
          </a:p>
        </p:txBody>
      </p:sp>
      <p:sp>
        <p:nvSpPr>
          <p:cNvPr id="8" name="Text 6"/>
          <p:cNvSpPr/>
          <p:nvPr/>
        </p:nvSpPr>
        <p:spPr>
          <a:xfrm>
            <a:off x="1508760" y="2304288"/>
            <a:ext cx="4343400" cy="59436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How the dataset was prepared, queried, and visualized</a:t>
            </a:r>
            <a:endParaRPr lang="en-US" sz="1200" dirty="0"/>
          </a:p>
        </p:txBody>
      </p:sp>
      <p:sp>
        <p:nvSpPr>
          <p:cNvPr id="9" name="Shape 7"/>
          <p:cNvSpPr/>
          <p:nvPr/>
        </p:nvSpPr>
        <p:spPr>
          <a:xfrm>
            <a:off x="6355080" y="1737360"/>
            <a:ext cx="5440680" cy="1325880"/>
          </a:xfrm>
          <a:prstGeom prst="roundRect">
            <a:avLst>
              <a:gd name="adj" fmla="val 5517"/>
            </a:avLst>
          </a:prstGeom>
          <a:solidFill>
            <a:srgbClr val="F4F7FB"/>
          </a:solidFill>
          <a:ln w="9525">
            <a:solidFill>
              <a:srgbClr val="DDE5EF"/>
            </a:solidFill>
            <a:prstDash val="solid"/>
          </a:ln>
        </p:spPr>
      </p:sp>
      <p:sp>
        <p:nvSpPr>
          <p:cNvPr id="10" name="Shape 8"/>
          <p:cNvSpPr/>
          <p:nvPr/>
        </p:nvSpPr>
        <p:spPr>
          <a:xfrm>
            <a:off x="6583680" y="2121408"/>
            <a:ext cx="548640" cy="548640"/>
          </a:xfrm>
          <a:prstGeom prst="ellipse">
            <a:avLst/>
          </a:prstGeom>
          <a:solidFill>
            <a:srgbClr val="13315C"/>
          </a:solidFill>
          <a:ln/>
        </p:spPr>
      </p:sp>
      <p:sp>
        <p:nvSpPr>
          <p:cNvPr id="11" name="Text 9"/>
          <p:cNvSpPr/>
          <p:nvPr/>
        </p:nvSpPr>
        <p:spPr>
          <a:xfrm>
            <a:off x="6583680" y="21214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315200" y="1938528"/>
            <a:ext cx="4297680" cy="3657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Business Overview</a:t>
            </a:r>
            <a:endParaRPr lang="en-US" sz="1600" dirty="0"/>
          </a:p>
        </p:txBody>
      </p:sp>
      <p:sp>
        <p:nvSpPr>
          <p:cNvPr id="13" name="Text 11"/>
          <p:cNvSpPr/>
          <p:nvPr/>
        </p:nvSpPr>
        <p:spPr>
          <a:xfrm>
            <a:off x="7315200" y="2304288"/>
            <a:ext cx="4343400" cy="59436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Headline KPIs for the two-year period</a:t>
            </a:r>
            <a:endParaRPr lang="en-US" sz="1200" dirty="0"/>
          </a:p>
        </p:txBody>
      </p:sp>
      <p:sp>
        <p:nvSpPr>
          <p:cNvPr id="14" name="Shape 12"/>
          <p:cNvSpPr/>
          <p:nvPr/>
        </p:nvSpPr>
        <p:spPr>
          <a:xfrm>
            <a:off x="548640" y="3291840"/>
            <a:ext cx="5440680" cy="1325880"/>
          </a:xfrm>
          <a:prstGeom prst="roundRect">
            <a:avLst>
              <a:gd name="adj" fmla="val 5517"/>
            </a:avLst>
          </a:prstGeom>
          <a:solidFill>
            <a:srgbClr val="F4F7FB"/>
          </a:solidFill>
          <a:ln w="9525">
            <a:solidFill>
              <a:srgbClr val="DDE5EF"/>
            </a:solidFill>
            <a:prstDash val="solid"/>
          </a:ln>
        </p:spPr>
      </p:sp>
      <p:sp>
        <p:nvSpPr>
          <p:cNvPr id="15" name="Shape 13"/>
          <p:cNvSpPr/>
          <p:nvPr/>
        </p:nvSpPr>
        <p:spPr>
          <a:xfrm>
            <a:off x="777240" y="3675888"/>
            <a:ext cx="548640" cy="548640"/>
          </a:xfrm>
          <a:prstGeom prst="ellipse">
            <a:avLst/>
          </a:prstGeom>
          <a:solidFill>
            <a:srgbClr val="13315C"/>
          </a:solidFill>
          <a:ln/>
        </p:spPr>
      </p:sp>
      <p:sp>
        <p:nvSpPr>
          <p:cNvPr id="16" name="Text 14"/>
          <p:cNvSpPr/>
          <p:nvPr/>
        </p:nvSpPr>
        <p:spPr>
          <a:xfrm>
            <a:off x="777240" y="36758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3493008"/>
            <a:ext cx="4297680" cy="3657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Sales &amp; Delivery Trends</a:t>
            </a:r>
            <a:endParaRPr lang="en-US" sz="1600" dirty="0"/>
          </a:p>
        </p:txBody>
      </p:sp>
      <p:sp>
        <p:nvSpPr>
          <p:cNvPr id="18" name="Text 16"/>
          <p:cNvSpPr/>
          <p:nvPr/>
        </p:nvSpPr>
        <p:spPr>
          <a:xfrm>
            <a:off x="1508760" y="3858768"/>
            <a:ext cx="4343400" cy="59436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Weekly revenue growth vs. delivery time</a:t>
            </a:r>
            <a:endParaRPr lang="en-US" sz="1200" dirty="0"/>
          </a:p>
        </p:txBody>
      </p:sp>
      <p:sp>
        <p:nvSpPr>
          <p:cNvPr id="19" name="Shape 17"/>
          <p:cNvSpPr/>
          <p:nvPr/>
        </p:nvSpPr>
        <p:spPr>
          <a:xfrm>
            <a:off x="6355080" y="3291840"/>
            <a:ext cx="5440680" cy="1325880"/>
          </a:xfrm>
          <a:prstGeom prst="roundRect">
            <a:avLst>
              <a:gd name="adj" fmla="val 5517"/>
            </a:avLst>
          </a:prstGeom>
          <a:solidFill>
            <a:srgbClr val="F4F7FB"/>
          </a:solidFill>
          <a:ln w="9525">
            <a:solidFill>
              <a:srgbClr val="DDE5EF"/>
            </a:solidFill>
            <a:prstDash val="solid"/>
          </a:ln>
        </p:spPr>
      </p:sp>
      <p:sp>
        <p:nvSpPr>
          <p:cNvPr id="20" name="Shape 18"/>
          <p:cNvSpPr/>
          <p:nvPr/>
        </p:nvSpPr>
        <p:spPr>
          <a:xfrm>
            <a:off x="6583680" y="3675888"/>
            <a:ext cx="548640" cy="548640"/>
          </a:xfrm>
          <a:prstGeom prst="ellipse">
            <a:avLst/>
          </a:prstGeom>
          <a:solidFill>
            <a:srgbClr val="13315C"/>
          </a:solidFill>
          <a:ln/>
        </p:spPr>
      </p:sp>
      <p:sp>
        <p:nvSpPr>
          <p:cNvPr id="21" name="Text 19"/>
          <p:cNvSpPr/>
          <p:nvPr/>
        </p:nvSpPr>
        <p:spPr>
          <a:xfrm>
            <a:off x="6583680" y="36758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315200" y="3493008"/>
            <a:ext cx="4297680" cy="3657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Pareto Analyses</a:t>
            </a:r>
            <a:endParaRPr lang="en-US" sz="1600" dirty="0"/>
          </a:p>
        </p:txBody>
      </p:sp>
      <p:sp>
        <p:nvSpPr>
          <p:cNvPr id="23" name="Text 21"/>
          <p:cNvSpPr/>
          <p:nvPr/>
        </p:nvSpPr>
        <p:spPr>
          <a:xfrm>
            <a:off x="7315200" y="3858768"/>
            <a:ext cx="4343400" cy="59436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Revenue concentration by state and product category</a:t>
            </a:r>
            <a:endParaRPr lang="en-US" sz="1200" dirty="0"/>
          </a:p>
        </p:txBody>
      </p:sp>
      <p:sp>
        <p:nvSpPr>
          <p:cNvPr id="24" name="Shape 22"/>
          <p:cNvSpPr/>
          <p:nvPr/>
        </p:nvSpPr>
        <p:spPr>
          <a:xfrm>
            <a:off x="548640" y="4846320"/>
            <a:ext cx="5440680" cy="1325880"/>
          </a:xfrm>
          <a:prstGeom prst="roundRect">
            <a:avLst>
              <a:gd name="adj" fmla="val 5517"/>
            </a:avLst>
          </a:prstGeom>
          <a:solidFill>
            <a:srgbClr val="F4F7FB"/>
          </a:solidFill>
          <a:ln w="9525">
            <a:solidFill>
              <a:srgbClr val="DDE5EF"/>
            </a:solidFill>
            <a:prstDash val="solid"/>
          </a:ln>
        </p:spPr>
      </p:sp>
      <p:sp>
        <p:nvSpPr>
          <p:cNvPr id="25" name="Shape 23"/>
          <p:cNvSpPr/>
          <p:nvPr/>
        </p:nvSpPr>
        <p:spPr>
          <a:xfrm>
            <a:off x="777240" y="5230368"/>
            <a:ext cx="548640" cy="548640"/>
          </a:xfrm>
          <a:prstGeom prst="ellipse">
            <a:avLst/>
          </a:prstGeom>
          <a:solidFill>
            <a:srgbClr val="13315C"/>
          </a:solidFill>
          <a:ln/>
        </p:spPr>
      </p:sp>
      <p:sp>
        <p:nvSpPr>
          <p:cNvPr id="26" name="Text 24"/>
          <p:cNvSpPr/>
          <p:nvPr/>
        </p:nvSpPr>
        <p:spPr>
          <a:xfrm>
            <a:off x="777240" y="52303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1508760" y="5047488"/>
            <a:ext cx="4297680" cy="3657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Seller Segmentation</a:t>
            </a:r>
            <a:endParaRPr lang="en-US" sz="1600" dirty="0"/>
          </a:p>
        </p:txBody>
      </p:sp>
      <p:sp>
        <p:nvSpPr>
          <p:cNvPr id="28" name="Text 26"/>
          <p:cNvSpPr/>
          <p:nvPr/>
        </p:nvSpPr>
        <p:spPr>
          <a:xfrm>
            <a:off x="1508760" y="5413248"/>
            <a:ext cx="4343400" cy="59436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RFM-based view of the seller ecosystem</a:t>
            </a:r>
            <a:endParaRPr lang="en-US" sz="1200" dirty="0"/>
          </a:p>
        </p:txBody>
      </p:sp>
      <p:sp>
        <p:nvSpPr>
          <p:cNvPr id="29" name="Shape 27"/>
          <p:cNvSpPr/>
          <p:nvPr/>
        </p:nvSpPr>
        <p:spPr>
          <a:xfrm>
            <a:off x="6355080" y="4846320"/>
            <a:ext cx="5440680" cy="1325880"/>
          </a:xfrm>
          <a:prstGeom prst="roundRect">
            <a:avLst>
              <a:gd name="adj" fmla="val 5517"/>
            </a:avLst>
          </a:prstGeom>
          <a:solidFill>
            <a:srgbClr val="F4F7FB"/>
          </a:solidFill>
          <a:ln w="9525">
            <a:solidFill>
              <a:srgbClr val="DDE5EF"/>
            </a:solidFill>
            <a:prstDash val="solid"/>
          </a:ln>
        </p:spPr>
      </p:sp>
      <p:sp>
        <p:nvSpPr>
          <p:cNvPr id="30" name="Shape 28"/>
          <p:cNvSpPr/>
          <p:nvPr/>
        </p:nvSpPr>
        <p:spPr>
          <a:xfrm>
            <a:off x="6583680" y="5230368"/>
            <a:ext cx="548640" cy="548640"/>
          </a:xfrm>
          <a:prstGeom prst="ellipse">
            <a:avLst/>
          </a:prstGeom>
          <a:solidFill>
            <a:srgbClr val="13315C"/>
          </a:solidFill>
          <a:ln/>
        </p:spPr>
      </p:sp>
      <p:sp>
        <p:nvSpPr>
          <p:cNvPr id="31" name="Text 29"/>
          <p:cNvSpPr/>
          <p:nvPr/>
        </p:nvSpPr>
        <p:spPr>
          <a:xfrm>
            <a:off x="6583680" y="52303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2" name="Text 30"/>
          <p:cNvSpPr/>
          <p:nvPr/>
        </p:nvSpPr>
        <p:spPr>
          <a:xfrm>
            <a:off x="7315200" y="5047488"/>
            <a:ext cx="4297680" cy="3657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Conclusions &amp; Recommendations</a:t>
            </a:r>
            <a:endParaRPr lang="en-US" sz="1600" dirty="0"/>
          </a:p>
        </p:txBody>
      </p:sp>
      <p:sp>
        <p:nvSpPr>
          <p:cNvPr id="33" name="Text 31"/>
          <p:cNvSpPr/>
          <p:nvPr/>
        </p:nvSpPr>
        <p:spPr>
          <a:xfrm>
            <a:off x="7315200" y="5413248"/>
            <a:ext cx="4343400" cy="59436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What the data tells us to do next</a:t>
            </a:r>
            <a:endParaRPr lang="en-US" sz="1200" dirty="0"/>
          </a:p>
        </p:txBody>
      </p:sp>
      <p:sp>
        <p:nvSpPr>
          <p:cNvPr id="34" name="Text 32"/>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APPROACH</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Data Preparation &amp; Methodology</a:t>
            </a:r>
            <a:endParaRPr lang="en-US" sz="3200" dirty="0"/>
          </a:p>
        </p:txBody>
      </p:sp>
      <p:sp>
        <p:nvSpPr>
          <p:cNvPr id="4" name="Shape 2"/>
          <p:cNvSpPr/>
          <p:nvPr/>
        </p:nvSpPr>
        <p:spPr>
          <a:xfrm>
            <a:off x="548640" y="1920240"/>
            <a:ext cx="2651760" cy="3291840"/>
          </a:xfrm>
          <a:prstGeom prst="roundRect">
            <a:avLst>
              <a:gd name="adj" fmla="val 2759"/>
            </a:avLst>
          </a:prstGeom>
          <a:solidFill>
            <a:srgbClr val="F4F7FB"/>
          </a:solidFill>
          <a:ln w="9525">
            <a:solidFill>
              <a:srgbClr val="DDE5EF"/>
            </a:solidFill>
            <a:prstDash val="solid"/>
          </a:ln>
        </p:spPr>
      </p:sp>
      <p:sp>
        <p:nvSpPr>
          <p:cNvPr id="5" name="Shape 3"/>
          <p:cNvSpPr/>
          <p:nvPr/>
        </p:nvSpPr>
        <p:spPr>
          <a:xfrm>
            <a:off x="777240" y="2194560"/>
            <a:ext cx="594360" cy="594360"/>
          </a:xfrm>
          <a:prstGeom prst="ellipse">
            <a:avLst/>
          </a:prstGeom>
          <a:solidFill>
            <a:srgbClr val="1F6FEB"/>
          </a:solidFill>
          <a:ln/>
        </p:spPr>
      </p:sp>
      <p:sp>
        <p:nvSpPr>
          <p:cNvPr id="6" name="Text 4"/>
          <p:cNvSpPr/>
          <p:nvPr/>
        </p:nvSpPr>
        <p:spPr>
          <a:xfrm>
            <a:off x="777240" y="21945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777240" y="2971800"/>
            <a:ext cx="2240280" cy="5943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Explore &amp; Validate</a:t>
            </a:r>
            <a:endParaRPr lang="en-US" sz="1600" dirty="0"/>
          </a:p>
        </p:txBody>
      </p:sp>
      <p:sp>
        <p:nvSpPr>
          <p:cNvPr id="8" name="Text 6"/>
          <p:cNvSpPr/>
          <p:nvPr/>
        </p:nvSpPr>
        <p:spPr>
          <a:xfrm>
            <a:off x="777240" y="3611880"/>
            <a:ext cx="2240280" cy="146304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Reviewed every table — customers, orders, items, payments, reviews, products, sellers, geolocation — and mapped their relationships.</a:t>
            </a:r>
            <a:endParaRPr lang="en-US" sz="1150" dirty="0"/>
          </a:p>
        </p:txBody>
      </p:sp>
      <p:sp>
        <p:nvSpPr>
          <p:cNvPr id="9" name="Text 7"/>
          <p:cNvSpPr/>
          <p:nvPr/>
        </p:nvSpPr>
        <p:spPr>
          <a:xfrm>
            <a:off x="3163824" y="3291840"/>
            <a:ext cx="274320" cy="457200"/>
          </a:xfrm>
          <a:prstGeom prst="rect">
            <a:avLst/>
          </a:prstGeom>
          <a:noFill/>
          <a:ln/>
        </p:spPr>
        <p:txBody>
          <a:bodyPr wrap="square" lIns="0" tIns="0" rIns="0" bIns="0" rtlCol="0" anchor="ctr"/>
          <a:lstStyle/>
          <a:p>
            <a:pPr algn="ctr" indent="0" marL="0">
              <a:buNone/>
            </a:pPr>
            <a:r>
              <a:rPr lang="en-US" sz="2000" dirty="0">
                <a:solidFill>
                  <a:srgbClr val="E8792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401568" y="1920240"/>
            <a:ext cx="2651760" cy="3291840"/>
          </a:xfrm>
          <a:prstGeom prst="roundRect">
            <a:avLst>
              <a:gd name="adj" fmla="val 2759"/>
            </a:avLst>
          </a:prstGeom>
          <a:solidFill>
            <a:srgbClr val="F4F7FB"/>
          </a:solidFill>
          <a:ln w="9525">
            <a:solidFill>
              <a:srgbClr val="DDE5EF"/>
            </a:solidFill>
            <a:prstDash val="solid"/>
          </a:ln>
        </p:spPr>
      </p:sp>
      <p:sp>
        <p:nvSpPr>
          <p:cNvPr id="11" name="Shape 9"/>
          <p:cNvSpPr/>
          <p:nvPr/>
        </p:nvSpPr>
        <p:spPr>
          <a:xfrm>
            <a:off x="3630168" y="2194560"/>
            <a:ext cx="594360" cy="594360"/>
          </a:xfrm>
          <a:prstGeom prst="ellipse">
            <a:avLst/>
          </a:prstGeom>
          <a:solidFill>
            <a:srgbClr val="1F6FEB"/>
          </a:solidFill>
          <a:ln/>
        </p:spPr>
      </p:sp>
      <p:sp>
        <p:nvSpPr>
          <p:cNvPr id="12" name="Text 10"/>
          <p:cNvSpPr/>
          <p:nvPr/>
        </p:nvSpPr>
        <p:spPr>
          <a:xfrm>
            <a:off x="3630168" y="21945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3630168" y="2971800"/>
            <a:ext cx="2240280" cy="5943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Query in BigQuery</a:t>
            </a:r>
            <a:endParaRPr lang="en-US" sz="1600" dirty="0"/>
          </a:p>
        </p:txBody>
      </p:sp>
      <p:sp>
        <p:nvSpPr>
          <p:cNvPr id="14" name="Text 12"/>
          <p:cNvSpPr/>
          <p:nvPr/>
        </p:nvSpPr>
        <p:spPr>
          <a:xfrm>
            <a:off x="3630168" y="3611880"/>
            <a:ext cx="2240280" cy="146304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Wrote SQL to join related tables, assess data quality, and build calculated fields for deeper analysis.</a:t>
            </a:r>
            <a:endParaRPr lang="en-US" sz="1150" dirty="0"/>
          </a:p>
        </p:txBody>
      </p:sp>
      <p:sp>
        <p:nvSpPr>
          <p:cNvPr id="15" name="Text 13"/>
          <p:cNvSpPr/>
          <p:nvPr/>
        </p:nvSpPr>
        <p:spPr>
          <a:xfrm>
            <a:off x="6016752" y="3291840"/>
            <a:ext cx="274320" cy="457200"/>
          </a:xfrm>
          <a:prstGeom prst="rect">
            <a:avLst/>
          </a:prstGeom>
          <a:noFill/>
          <a:ln/>
        </p:spPr>
        <p:txBody>
          <a:bodyPr wrap="square" lIns="0" tIns="0" rIns="0" bIns="0" rtlCol="0" anchor="ctr"/>
          <a:lstStyle/>
          <a:p>
            <a:pPr algn="ctr" indent="0" marL="0">
              <a:buNone/>
            </a:pPr>
            <a:r>
              <a:rPr lang="en-US" sz="2000" dirty="0">
                <a:solidFill>
                  <a:srgbClr val="E8792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54496" y="1920240"/>
            <a:ext cx="2651760" cy="3291840"/>
          </a:xfrm>
          <a:prstGeom prst="roundRect">
            <a:avLst>
              <a:gd name="adj" fmla="val 2759"/>
            </a:avLst>
          </a:prstGeom>
          <a:solidFill>
            <a:srgbClr val="F4F7FB"/>
          </a:solidFill>
          <a:ln w="9525">
            <a:solidFill>
              <a:srgbClr val="DDE5EF"/>
            </a:solidFill>
            <a:prstDash val="solid"/>
          </a:ln>
        </p:spPr>
      </p:sp>
      <p:sp>
        <p:nvSpPr>
          <p:cNvPr id="17" name="Shape 15"/>
          <p:cNvSpPr/>
          <p:nvPr/>
        </p:nvSpPr>
        <p:spPr>
          <a:xfrm>
            <a:off x="6483096" y="2194560"/>
            <a:ext cx="594360" cy="594360"/>
          </a:xfrm>
          <a:prstGeom prst="ellipse">
            <a:avLst/>
          </a:prstGeom>
          <a:solidFill>
            <a:srgbClr val="1F6FEB"/>
          </a:solidFill>
          <a:ln/>
        </p:spPr>
      </p:sp>
      <p:sp>
        <p:nvSpPr>
          <p:cNvPr id="18" name="Text 16"/>
          <p:cNvSpPr/>
          <p:nvPr/>
        </p:nvSpPr>
        <p:spPr>
          <a:xfrm>
            <a:off x="6483096" y="21945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6483096" y="2971800"/>
            <a:ext cx="2240280" cy="594360"/>
          </a:xfrm>
          <a:prstGeom prst="rect">
            <a:avLst/>
          </a:prstGeom>
          <a:noFill/>
          <a:ln/>
        </p:spPr>
        <p:txBody>
          <a:bodyPr wrap="square" lIns="0" tIns="0" rIns="0" bIns="0" rtlCol="0" anchor="ctr"/>
          <a:lstStyle/>
          <a:p>
            <a:pPr indent="0" marL="0">
              <a:buNone/>
            </a:pPr>
            <a:r>
              <a:rPr lang="en-US" sz="1600" b="1" dirty="0">
                <a:solidFill>
                  <a:srgbClr val="13315C"/>
                </a:solidFill>
                <a:latin typeface="Calibri" pitchFamily="34" charset="0"/>
                <a:ea typeface="Calibri" pitchFamily="34" charset="-122"/>
                <a:cs typeface="Calibri" pitchFamily="34" charset="-120"/>
              </a:rPr>
              <a:t>Segment Sellers</a:t>
            </a:r>
            <a:endParaRPr lang="en-US" sz="1600" dirty="0"/>
          </a:p>
        </p:txBody>
      </p:sp>
      <p:sp>
        <p:nvSpPr>
          <p:cNvPr id="20" name="Text 18"/>
          <p:cNvSpPr/>
          <p:nvPr/>
        </p:nvSpPr>
        <p:spPr>
          <a:xfrm>
            <a:off x="6483096" y="3611880"/>
            <a:ext cx="2240280" cy="146304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Classified sellers with an RFM model to enable meaningful group-level comparisons.</a:t>
            </a:r>
            <a:endParaRPr lang="en-US" sz="1150" dirty="0"/>
          </a:p>
        </p:txBody>
      </p:sp>
      <p:sp>
        <p:nvSpPr>
          <p:cNvPr id="21" name="Text 19"/>
          <p:cNvSpPr/>
          <p:nvPr/>
        </p:nvSpPr>
        <p:spPr>
          <a:xfrm>
            <a:off x="8869680" y="3291840"/>
            <a:ext cx="274320" cy="457200"/>
          </a:xfrm>
          <a:prstGeom prst="rect">
            <a:avLst/>
          </a:prstGeom>
          <a:noFill/>
          <a:ln/>
        </p:spPr>
        <p:txBody>
          <a:bodyPr wrap="square" lIns="0" tIns="0" rIns="0" bIns="0" rtlCol="0" anchor="ctr"/>
          <a:lstStyle/>
          <a:p>
            <a:pPr algn="ctr" indent="0" marL="0">
              <a:buNone/>
            </a:pPr>
            <a:r>
              <a:rPr lang="en-US" sz="2000" dirty="0">
                <a:solidFill>
                  <a:srgbClr val="E8792B"/>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107424" y="1920240"/>
            <a:ext cx="2651760" cy="3291840"/>
          </a:xfrm>
          <a:prstGeom prst="roundRect">
            <a:avLst>
              <a:gd name="adj" fmla="val 2759"/>
            </a:avLst>
          </a:prstGeom>
          <a:solidFill>
            <a:srgbClr val="13315C"/>
          </a:solidFill>
          <a:ln w="9525">
            <a:solidFill>
              <a:srgbClr val="DDE5EF"/>
            </a:solidFill>
            <a:prstDash val="solid"/>
          </a:ln>
        </p:spPr>
      </p:sp>
      <p:sp>
        <p:nvSpPr>
          <p:cNvPr id="23" name="Shape 21"/>
          <p:cNvSpPr/>
          <p:nvPr/>
        </p:nvSpPr>
        <p:spPr>
          <a:xfrm>
            <a:off x="9336024" y="2194560"/>
            <a:ext cx="594360" cy="594360"/>
          </a:xfrm>
          <a:prstGeom prst="ellipse">
            <a:avLst/>
          </a:prstGeom>
          <a:solidFill>
            <a:srgbClr val="E8792B"/>
          </a:solidFill>
          <a:ln/>
        </p:spPr>
      </p:sp>
      <p:sp>
        <p:nvSpPr>
          <p:cNvPr id="24" name="Text 22"/>
          <p:cNvSpPr/>
          <p:nvPr/>
        </p:nvSpPr>
        <p:spPr>
          <a:xfrm>
            <a:off x="9336024" y="21945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9336024" y="2971800"/>
            <a:ext cx="224028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Visualize in Tableau</a:t>
            </a:r>
            <a:endParaRPr lang="en-US" sz="1600" dirty="0"/>
          </a:p>
        </p:txBody>
      </p:sp>
      <p:sp>
        <p:nvSpPr>
          <p:cNvPr id="26" name="Text 24"/>
          <p:cNvSpPr/>
          <p:nvPr/>
        </p:nvSpPr>
        <p:spPr>
          <a:xfrm>
            <a:off x="9336024" y="3611880"/>
            <a:ext cx="2240280" cy="1463040"/>
          </a:xfrm>
          <a:prstGeom prst="rect">
            <a:avLst/>
          </a:prstGeom>
          <a:noFill/>
          <a:ln/>
        </p:spPr>
        <p:txBody>
          <a:bodyPr wrap="square" lIns="0" tIns="0" rIns="0" bIns="0" rtlCol="0" anchor="ctr"/>
          <a:lstStyle/>
          <a:p>
            <a:pPr indent="0" marL="0">
              <a:buNone/>
            </a:pPr>
            <a:r>
              <a:rPr lang="en-US" sz="1150" dirty="0">
                <a:solidFill>
                  <a:srgbClr val="C9D8F2"/>
                </a:solidFill>
                <a:latin typeface="Calibri" pitchFamily="34" charset="0"/>
                <a:ea typeface="Calibri" pitchFamily="34" charset="-122"/>
                <a:cs typeface="Calibri" pitchFamily="34" charset="-120"/>
              </a:rPr>
              <a:t>Built an interactive dashboard with filters for time period, region, delivery status, and seller segment.</a:t>
            </a:r>
            <a:endParaRPr lang="en-US" sz="1150" dirty="0"/>
          </a:p>
        </p:txBody>
      </p:sp>
      <p:sp>
        <p:nvSpPr>
          <p:cNvPr id="27" name="Text 25"/>
          <p:cNvSpPr/>
          <p:nvPr/>
        </p:nvSpPr>
        <p:spPr>
          <a:xfrm>
            <a:off x="548640" y="5623560"/>
            <a:ext cx="11064240" cy="365760"/>
          </a:xfrm>
          <a:prstGeom prst="rect">
            <a:avLst/>
          </a:prstGeom>
          <a:noFill/>
          <a:ln/>
        </p:spPr>
        <p:txBody>
          <a:bodyPr wrap="square" lIns="0" tIns="0" rIns="0" bIns="0" rtlCol="0" anchor="ctr"/>
          <a:lstStyle/>
          <a:p>
            <a:pPr indent="0" marL="0">
              <a:buNone/>
            </a:pPr>
            <a:r>
              <a:rPr lang="en-US" sz="1300" i="1" dirty="0">
                <a:solidFill>
                  <a:srgbClr val="5B6672"/>
                </a:solidFill>
                <a:latin typeface="Calibri" pitchFamily="34" charset="0"/>
                <a:ea typeface="Calibri" pitchFamily="34" charset="-122"/>
                <a:cs typeface="Calibri" pitchFamily="34" charset="-120"/>
              </a:rPr>
              <a:t>Deliverables: SQL queries (BigQuery) • Seller segmentation query • Interactive Tableau dashboard</a:t>
            </a:r>
            <a:endParaRPr lang="en-US" sz="1300" dirty="0"/>
          </a:p>
        </p:txBody>
      </p:sp>
      <p:sp>
        <p:nvSpPr>
          <p:cNvPr id="28" name="Text 26"/>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BUSINESS OVERVIEW</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The Marketplace at a Glance</a:t>
            </a:r>
            <a:endParaRPr lang="en-US" sz="3200" dirty="0"/>
          </a:p>
        </p:txBody>
      </p:sp>
      <p:sp>
        <p:nvSpPr>
          <p:cNvPr id="4" name="Shape 2"/>
          <p:cNvSpPr/>
          <p:nvPr/>
        </p:nvSpPr>
        <p:spPr>
          <a:xfrm>
            <a:off x="548640" y="2011680"/>
            <a:ext cx="2084832" cy="2103120"/>
          </a:xfrm>
          <a:prstGeom prst="roundRect">
            <a:avLst>
              <a:gd name="adj" fmla="val 3509"/>
            </a:avLst>
          </a:prstGeom>
          <a:solidFill>
            <a:srgbClr val="F4F7FB"/>
          </a:solidFill>
          <a:ln w="9525">
            <a:solidFill>
              <a:srgbClr val="DDE5EF"/>
            </a:solidFill>
            <a:prstDash val="solid"/>
          </a:ln>
        </p:spPr>
      </p:sp>
      <p:sp>
        <p:nvSpPr>
          <p:cNvPr id="5" name="Text 3"/>
          <p:cNvSpPr/>
          <p:nvPr/>
        </p:nvSpPr>
        <p:spPr>
          <a:xfrm>
            <a:off x="640080" y="2423160"/>
            <a:ext cx="1901952" cy="685800"/>
          </a:xfrm>
          <a:prstGeom prst="rect">
            <a:avLst/>
          </a:prstGeom>
          <a:noFill/>
          <a:ln/>
        </p:spPr>
        <p:txBody>
          <a:bodyPr wrap="square" lIns="0" tIns="0" rIns="0" bIns="0" rtlCol="0" anchor="ctr"/>
          <a:lstStyle/>
          <a:p>
            <a:pPr algn="ctr" indent="0" marL="0">
              <a:buNone/>
            </a:pPr>
            <a:r>
              <a:rPr lang="en-US" sz="2600" b="1" dirty="0">
                <a:solidFill>
                  <a:srgbClr val="13315C"/>
                </a:solidFill>
                <a:latin typeface="Cambria" pitchFamily="34" charset="0"/>
                <a:ea typeface="Cambria" pitchFamily="34" charset="-122"/>
                <a:cs typeface="Cambria" pitchFamily="34" charset="-120"/>
              </a:rPr>
              <a:t>R$ 15.49M</a:t>
            </a:r>
            <a:endParaRPr lang="en-US" sz="2600" dirty="0"/>
          </a:p>
        </p:txBody>
      </p:sp>
      <p:sp>
        <p:nvSpPr>
          <p:cNvPr id="6" name="Text 4"/>
          <p:cNvSpPr/>
          <p:nvPr/>
        </p:nvSpPr>
        <p:spPr>
          <a:xfrm>
            <a:off x="640080" y="3200400"/>
            <a:ext cx="1901952" cy="548640"/>
          </a:xfrm>
          <a:prstGeom prst="rect">
            <a:avLst/>
          </a:prstGeom>
          <a:noFill/>
          <a:ln/>
        </p:spPr>
        <p:txBody>
          <a:bodyPr wrap="square" lIns="0" tIns="0" rIns="0" bIns="0" rtlCol="0" anchor="ctr"/>
          <a:lstStyle/>
          <a:p>
            <a:pPr algn="ctr" indent="0" marL="0">
              <a:buNone/>
            </a:pPr>
            <a:r>
              <a:rPr lang="en-US" sz="1200" dirty="0">
                <a:solidFill>
                  <a:srgbClr val="5B6672"/>
                </a:solidFill>
                <a:latin typeface="Calibri" pitchFamily="34" charset="0"/>
                <a:ea typeface="Calibri" pitchFamily="34" charset="-122"/>
                <a:cs typeface="Calibri" pitchFamily="34" charset="-120"/>
              </a:rPr>
              <a:t>Total revenue (BRL)</a:t>
            </a:r>
            <a:endParaRPr lang="en-US" sz="1200" dirty="0"/>
          </a:p>
        </p:txBody>
      </p:sp>
      <p:sp>
        <p:nvSpPr>
          <p:cNvPr id="7" name="Shape 5"/>
          <p:cNvSpPr/>
          <p:nvPr/>
        </p:nvSpPr>
        <p:spPr>
          <a:xfrm>
            <a:off x="2816352" y="2011680"/>
            <a:ext cx="2084832" cy="2103120"/>
          </a:xfrm>
          <a:prstGeom prst="roundRect">
            <a:avLst>
              <a:gd name="adj" fmla="val 3509"/>
            </a:avLst>
          </a:prstGeom>
          <a:solidFill>
            <a:srgbClr val="F4F7FB"/>
          </a:solidFill>
          <a:ln w="9525">
            <a:solidFill>
              <a:srgbClr val="DDE5EF"/>
            </a:solidFill>
            <a:prstDash val="solid"/>
          </a:ln>
        </p:spPr>
      </p:sp>
      <p:sp>
        <p:nvSpPr>
          <p:cNvPr id="8" name="Text 6"/>
          <p:cNvSpPr/>
          <p:nvPr/>
        </p:nvSpPr>
        <p:spPr>
          <a:xfrm>
            <a:off x="2907792" y="2423160"/>
            <a:ext cx="1901952" cy="685800"/>
          </a:xfrm>
          <a:prstGeom prst="rect">
            <a:avLst/>
          </a:prstGeom>
          <a:noFill/>
          <a:ln/>
        </p:spPr>
        <p:txBody>
          <a:bodyPr wrap="square" lIns="0" tIns="0" rIns="0" bIns="0" rtlCol="0" anchor="ctr"/>
          <a:lstStyle/>
          <a:p>
            <a:pPr algn="ctr" indent="0" marL="0">
              <a:buNone/>
            </a:pPr>
            <a:r>
              <a:rPr lang="en-US" sz="2600" b="1" dirty="0">
                <a:solidFill>
                  <a:srgbClr val="13315C"/>
                </a:solidFill>
                <a:latin typeface="Cambria" pitchFamily="34" charset="0"/>
                <a:ea typeface="Cambria" pitchFamily="34" charset="-122"/>
                <a:cs typeface="Cambria" pitchFamily="34" charset="-120"/>
              </a:rPr>
              <a:t>96,478</a:t>
            </a:r>
            <a:endParaRPr lang="en-US" sz="2600" dirty="0"/>
          </a:p>
        </p:txBody>
      </p:sp>
      <p:sp>
        <p:nvSpPr>
          <p:cNvPr id="9" name="Text 7"/>
          <p:cNvSpPr/>
          <p:nvPr/>
        </p:nvSpPr>
        <p:spPr>
          <a:xfrm>
            <a:off x="2907792" y="3200400"/>
            <a:ext cx="1901952" cy="548640"/>
          </a:xfrm>
          <a:prstGeom prst="rect">
            <a:avLst/>
          </a:prstGeom>
          <a:noFill/>
          <a:ln/>
        </p:spPr>
        <p:txBody>
          <a:bodyPr wrap="square" lIns="0" tIns="0" rIns="0" bIns="0" rtlCol="0" anchor="ctr"/>
          <a:lstStyle/>
          <a:p>
            <a:pPr algn="ctr" indent="0" marL="0">
              <a:buNone/>
            </a:pPr>
            <a:r>
              <a:rPr lang="en-US" sz="1200" dirty="0">
                <a:solidFill>
                  <a:srgbClr val="5B6672"/>
                </a:solidFill>
                <a:latin typeface="Calibri" pitchFamily="34" charset="0"/>
                <a:ea typeface="Calibri" pitchFamily="34" charset="-122"/>
                <a:cs typeface="Calibri" pitchFamily="34" charset="-120"/>
              </a:rPr>
              <a:t>Completed orders</a:t>
            </a:r>
            <a:endParaRPr lang="en-US" sz="1200" dirty="0"/>
          </a:p>
        </p:txBody>
      </p:sp>
      <p:sp>
        <p:nvSpPr>
          <p:cNvPr id="10" name="Shape 8"/>
          <p:cNvSpPr/>
          <p:nvPr/>
        </p:nvSpPr>
        <p:spPr>
          <a:xfrm>
            <a:off x="5084064" y="2011680"/>
            <a:ext cx="2084832" cy="2103120"/>
          </a:xfrm>
          <a:prstGeom prst="roundRect">
            <a:avLst>
              <a:gd name="adj" fmla="val 3509"/>
            </a:avLst>
          </a:prstGeom>
          <a:solidFill>
            <a:srgbClr val="F4F7FB"/>
          </a:solidFill>
          <a:ln w="9525">
            <a:solidFill>
              <a:srgbClr val="DDE5EF"/>
            </a:solidFill>
            <a:prstDash val="solid"/>
          </a:ln>
        </p:spPr>
      </p:sp>
      <p:sp>
        <p:nvSpPr>
          <p:cNvPr id="11" name="Text 9"/>
          <p:cNvSpPr/>
          <p:nvPr/>
        </p:nvSpPr>
        <p:spPr>
          <a:xfrm>
            <a:off x="5175504" y="2423160"/>
            <a:ext cx="1901952" cy="685800"/>
          </a:xfrm>
          <a:prstGeom prst="rect">
            <a:avLst/>
          </a:prstGeom>
          <a:noFill/>
          <a:ln/>
        </p:spPr>
        <p:txBody>
          <a:bodyPr wrap="square" lIns="0" tIns="0" rIns="0" bIns="0" rtlCol="0" anchor="ctr"/>
          <a:lstStyle/>
          <a:p>
            <a:pPr algn="ctr" indent="0" marL="0">
              <a:buNone/>
            </a:pPr>
            <a:r>
              <a:rPr lang="en-US" sz="2600" b="1" dirty="0">
                <a:solidFill>
                  <a:srgbClr val="13315C"/>
                </a:solidFill>
                <a:latin typeface="Cambria" pitchFamily="34" charset="0"/>
                <a:ea typeface="Cambria" pitchFamily="34" charset="-122"/>
                <a:cs typeface="Cambria" pitchFamily="34" charset="-120"/>
              </a:rPr>
              <a:t>96,478</a:t>
            </a:r>
            <a:endParaRPr lang="en-US" sz="2600" dirty="0"/>
          </a:p>
        </p:txBody>
      </p:sp>
      <p:sp>
        <p:nvSpPr>
          <p:cNvPr id="12" name="Text 10"/>
          <p:cNvSpPr/>
          <p:nvPr/>
        </p:nvSpPr>
        <p:spPr>
          <a:xfrm>
            <a:off x="5175504" y="3200400"/>
            <a:ext cx="1901952" cy="548640"/>
          </a:xfrm>
          <a:prstGeom prst="rect">
            <a:avLst/>
          </a:prstGeom>
          <a:noFill/>
          <a:ln/>
        </p:spPr>
        <p:txBody>
          <a:bodyPr wrap="square" lIns="0" tIns="0" rIns="0" bIns="0" rtlCol="0" anchor="ctr"/>
          <a:lstStyle/>
          <a:p>
            <a:pPr algn="ctr" indent="0" marL="0">
              <a:buNone/>
            </a:pPr>
            <a:r>
              <a:rPr lang="en-US" sz="1200" dirty="0">
                <a:solidFill>
                  <a:srgbClr val="5B6672"/>
                </a:solidFill>
                <a:latin typeface="Calibri" pitchFamily="34" charset="0"/>
                <a:ea typeface="Calibri" pitchFamily="34" charset="-122"/>
                <a:cs typeface="Calibri" pitchFamily="34" charset="-120"/>
              </a:rPr>
              <a:t>Unique customers</a:t>
            </a:r>
            <a:endParaRPr lang="en-US" sz="1200" dirty="0"/>
          </a:p>
        </p:txBody>
      </p:sp>
      <p:sp>
        <p:nvSpPr>
          <p:cNvPr id="13" name="Shape 11"/>
          <p:cNvSpPr/>
          <p:nvPr/>
        </p:nvSpPr>
        <p:spPr>
          <a:xfrm>
            <a:off x="7351776" y="2011680"/>
            <a:ext cx="2084832" cy="2103120"/>
          </a:xfrm>
          <a:prstGeom prst="roundRect">
            <a:avLst>
              <a:gd name="adj" fmla="val 3509"/>
            </a:avLst>
          </a:prstGeom>
          <a:solidFill>
            <a:srgbClr val="F4F7FB"/>
          </a:solidFill>
          <a:ln w="9525">
            <a:solidFill>
              <a:srgbClr val="DDE5EF"/>
            </a:solidFill>
            <a:prstDash val="solid"/>
          </a:ln>
        </p:spPr>
      </p:sp>
      <p:sp>
        <p:nvSpPr>
          <p:cNvPr id="14" name="Text 12"/>
          <p:cNvSpPr/>
          <p:nvPr/>
        </p:nvSpPr>
        <p:spPr>
          <a:xfrm>
            <a:off x="7443216" y="2423160"/>
            <a:ext cx="1901952" cy="685800"/>
          </a:xfrm>
          <a:prstGeom prst="rect">
            <a:avLst/>
          </a:prstGeom>
          <a:noFill/>
          <a:ln/>
        </p:spPr>
        <p:txBody>
          <a:bodyPr wrap="square" lIns="0" tIns="0" rIns="0" bIns="0" rtlCol="0" anchor="ctr"/>
          <a:lstStyle/>
          <a:p>
            <a:pPr algn="ctr" indent="0" marL="0">
              <a:buNone/>
            </a:pPr>
            <a:r>
              <a:rPr lang="en-US" sz="2600" b="1" dirty="0">
                <a:solidFill>
                  <a:srgbClr val="13315C"/>
                </a:solidFill>
                <a:latin typeface="Cambria" pitchFamily="34" charset="0"/>
                <a:ea typeface="Cambria" pitchFamily="34" charset="-122"/>
                <a:cs typeface="Cambria" pitchFamily="34" charset="-120"/>
              </a:rPr>
              <a:t>2,970</a:t>
            </a:r>
            <a:endParaRPr lang="en-US" sz="2600" dirty="0"/>
          </a:p>
        </p:txBody>
      </p:sp>
      <p:sp>
        <p:nvSpPr>
          <p:cNvPr id="15" name="Text 13"/>
          <p:cNvSpPr/>
          <p:nvPr/>
        </p:nvSpPr>
        <p:spPr>
          <a:xfrm>
            <a:off x="7443216" y="3200400"/>
            <a:ext cx="1901952" cy="548640"/>
          </a:xfrm>
          <a:prstGeom prst="rect">
            <a:avLst/>
          </a:prstGeom>
          <a:noFill/>
          <a:ln/>
        </p:spPr>
        <p:txBody>
          <a:bodyPr wrap="square" lIns="0" tIns="0" rIns="0" bIns="0" rtlCol="0" anchor="ctr"/>
          <a:lstStyle/>
          <a:p>
            <a:pPr algn="ctr" indent="0" marL="0">
              <a:buNone/>
            </a:pPr>
            <a:r>
              <a:rPr lang="en-US" sz="1200" dirty="0">
                <a:solidFill>
                  <a:srgbClr val="5B6672"/>
                </a:solidFill>
                <a:latin typeface="Calibri" pitchFamily="34" charset="0"/>
                <a:ea typeface="Calibri" pitchFamily="34" charset="-122"/>
                <a:cs typeface="Calibri" pitchFamily="34" charset="-120"/>
              </a:rPr>
              <a:t>Active sellers</a:t>
            </a:r>
            <a:endParaRPr lang="en-US" sz="1200" dirty="0"/>
          </a:p>
        </p:txBody>
      </p:sp>
      <p:sp>
        <p:nvSpPr>
          <p:cNvPr id="16" name="Shape 14"/>
          <p:cNvSpPr/>
          <p:nvPr/>
        </p:nvSpPr>
        <p:spPr>
          <a:xfrm>
            <a:off x="9619488" y="2011680"/>
            <a:ext cx="2084832" cy="2103120"/>
          </a:xfrm>
          <a:prstGeom prst="roundRect">
            <a:avLst>
              <a:gd name="adj" fmla="val 3509"/>
            </a:avLst>
          </a:prstGeom>
          <a:solidFill>
            <a:srgbClr val="F4F7FB"/>
          </a:solidFill>
          <a:ln w="9525">
            <a:solidFill>
              <a:srgbClr val="DDE5EF"/>
            </a:solidFill>
            <a:prstDash val="solid"/>
          </a:ln>
        </p:spPr>
      </p:sp>
      <p:sp>
        <p:nvSpPr>
          <p:cNvPr id="17" name="Text 15"/>
          <p:cNvSpPr/>
          <p:nvPr/>
        </p:nvSpPr>
        <p:spPr>
          <a:xfrm>
            <a:off x="9710928" y="2423160"/>
            <a:ext cx="1901952" cy="685800"/>
          </a:xfrm>
          <a:prstGeom prst="rect">
            <a:avLst/>
          </a:prstGeom>
          <a:noFill/>
          <a:ln/>
        </p:spPr>
        <p:txBody>
          <a:bodyPr wrap="square" lIns="0" tIns="0" rIns="0" bIns="0" rtlCol="0" anchor="ctr"/>
          <a:lstStyle/>
          <a:p>
            <a:pPr algn="ctr" indent="0" marL="0">
              <a:buNone/>
            </a:pPr>
            <a:r>
              <a:rPr lang="en-US" sz="2600" b="1" dirty="0">
                <a:solidFill>
                  <a:srgbClr val="E8792B"/>
                </a:solidFill>
                <a:latin typeface="Cambria" pitchFamily="34" charset="0"/>
                <a:ea typeface="Cambria" pitchFamily="34" charset="-122"/>
                <a:cs typeface="Cambria" pitchFamily="34" charset="-120"/>
              </a:rPr>
              <a:t>4.08 ★</a:t>
            </a:r>
            <a:endParaRPr lang="en-US" sz="2600" dirty="0"/>
          </a:p>
        </p:txBody>
      </p:sp>
      <p:sp>
        <p:nvSpPr>
          <p:cNvPr id="18" name="Text 16"/>
          <p:cNvSpPr/>
          <p:nvPr/>
        </p:nvSpPr>
        <p:spPr>
          <a:xfrm>
            <a:off x="9710928" y="3200400"/>
            <a:ext cx="1901952" cy="548640"/>
          </a:xfrm>
          <a:prstGeom prst="rect">
            <a:avLst/>
          </a:prstGeom>
          <a:noFill/>
          <a:ln/>
        </p:spPr>
        <p:txBody>
          <a:bodyPr wrap="square" lIns="0" tIns="0" rIns="0" bIns="0" rtlCol="0" anchor="ctr"/>
          <a:lstStyle/>
          <a:p>
            <a:pPr algn="ctr" indent="0" marL="0">
              <a:buNone/>
            </a:pPr>
            <a:r>
              <a:rPr lang="en-US" sz="1200" dirty="0">
                <a:solidFill>
                  <a:srgbClr val="5B6672"/>
                </a:solidFill>
                <a:latin typeface="Calibri" pitchFamily="34" charset="0"/>
                <a:ea typeface="Calibri" pitchFamily="34" charset="-122"/>
                <a:cs typeface="Calibri" pitchFamily="34" charset="-120"/>
              </a:rPr>
              <a:t>Avg. review score / 5</a:t>
            </a:r>
            <a:endParaRPr lang="en-US" sz="1200" dirty="0"/>
          </a:p>
        </p:txBody>
      </p:sp>
      <p:sp>
        <p:nvSpPr>
          <p:cNvPr id="19" name="Shape 17"/>
          <p:cNvSpPr/>
          <p:nvPr/>
        </p:nvSpPr>
        <p:spPr>
          <a:xfrm>
            <a:off x="548640" y="4617720"/>
            <a:ext cx="11091672" cy="1417320"/>
          </a:xfrm>
          <a:prstGeom prst="roundRect">
            <a:avLst>
              <a:gd name="adj" fmla="val 5161"/>
            </a:avLst>
          </a:prstGeom>
          <a:solidFill>
            <a:srgbClr val="EAF2FF"/>
          </a:solidFill>
          <a:ln/>
        </p:spPr>
      </p:sp>
      <p:sp>
        <p:nvSpPr>
          <p:cNvPr id="20" name="Text 18"/>
          <p:cNvSpPr/>
          <p:nvPr/>
        </p:nvSpPr>
        <p:spPr>
          <a:xfrm>
            <a:off x="868680" y="4846320"/>
            <a:ext cx="10424160" cy="960120"/>
          </a:xfrm>
          <a:prstGeom prst="rect">
            <a:avLst/>
          </a:prstGeom>
          <a:noFill/>
          <a:ln/>
        </p:spPr>
        <p:txBody>
          <a:bodyPr wrap="square" lIns="0" tIns="0" rIns="0" bIns="0" rtlCol="0" anchor="ctr"/>
          <a:lstStyle/>
          <a:p>
            <a:pPr indent="0" marL="0">
              <a:buNone/>
            </a:pPr>
            <a:r>
              <a:rPr lang="en-US" sz="1500" b="1" dirty="0">
                <a:solidFill>
                  <a:srgbClr val="13315C"/>
                </a:solidFill>
                <a:latin typeface="Calibri" pitchFamily="34" charset="0"/>
                <a:ea typeface="Calibri" pitchFamily="34" charset="-122"/>
                <a:cs typeface="Calibri" pitchFamily="34" charset="-120"/>
              </a:rPr>
              <a:t>Data period: September 2016 – August 2018 (2 years).  </a:t>
            </a:r>
            <a:pPr indent="0" marL="0">
              <a:buNone/>
            </a:pPr>
            <a:r>
              <a:rPr lang="en-US" sz="1500" dirty="0">
                <a:solidFill>
                  <a:srgbClr val="23262B"/>
                </a:solidFill>
                <a:latin typeface="Calibri" pitchFamily="34" charset="0"/>
                <a:ea typeface="Calibri" pitchFamily="34" charset="-122"/>
                <a:cs typeface="Calibri" pitchFamily="34" charset="-120"/>
              </a:rPr>
              <a:t>Orders equal unique customers one-to-one — repeat purchasing is rare, so growth in this period was driven almost entirely by new customer acquisition.</a:t>
            </a:r>
            <a:endParaRPr lang="en-US" sz="1500" dirty="0"/>
          </a:p>
        </p:txBody>
      </p:sp>
      <p:sp>
        <p:nvSpPr>
          <p:cNvPr id="21" name="Text 19"/>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TRENDS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Revenue Climbed While Delivery Time Collapsed</a:t>
            </a:r>
            <a:endParaRPr lang="en-US" sz="3200" dirty="0"/>
          </a:p>
        </p:txBody>
      </p:sp>
      <p:pic>
        <p:nvPicPr>
          <p:cNvPr id="4" name="Image 0" descr="/home/claude/images/img-001.jpg">    </p:cNvPr>
          <p:cNvPicPr>
            <a:picLocks noChangeAspect="1"/>
          </p:cNvPicPr>
          <p:nvPr/>
        </p:nvPicPr>
        <p:blipFill>
          <a:blip r:embed="rId1"/>
          <a:stretch>
            <a:fillRect/>
          </a:stretch>
        </p:blipFill>
        <p:spPr>
          <a:xfrm>
            <a:off x="548640" y="1600200"/>
            <a:ext cx="7406640" cy="4064246"/>
          </a:xfrm>
          <a:prstGeom prst="rect">
            <a:avLst/>
          </a:prstGeom>
        </p:spPr>
      </p:pic>
      <p:sp>
        <p:nvSpPr>
          <p:cNvPr id="5" name="Text 2"/>
          <p:cNvSpPr/>
          <p:nvPr/>
        </p:nvSpPr>
        <p:spPr>
          <a:xfrm>
            <a:off x="8229600" y="1645920"/>
            <a:ext cx="3383280" cy="411480"/>
          </a:xfrm>
          <a:prstGeom prst="rect">
            <a:avLst/>
          </a:prstGeom>
          <a:noFill/>
          <a:ln/>
        </p:spPr>
        <p:txBody>
          <a:bodyPr wrap="square" lIns="0" tIns="0" rIns="0" bIns="0" rtlCol="0" anchor="ctr"/>
          <a:lstStyle/>
          <a:p>
            <a:pPr indent="0" marL="0">
              <a:buNone/>
            </a:pPr>
            <a:r>
              <a:rPr lang="en-US" sz="2000" b="1" dirty="0">
                <a:solidFill>
                  <a:srgbClr val="13315C"/>
                </a:solidFill>
                <a:latin typeface="Cambria" pitchFamily="34" charset="0"/>
                <a:ea typeface="Cambria" pitchFamily="34" charset="-122"/>
                <a:cs typeface="Cambria" pitchFamily="34" charset="-120"/>
              </a:rPr>
              <a:t>R$ 469.8K</a:t>
            </a:r>
            <a:endParaRPr lang="en-US" sz="2000" dirty="0"/>
          </a:p>
        </p:txBody>
      </p:sp>
      <p:sp>
        <p:nvSpPr>
          <p:cNvPr id="6" name="Text 3"/>
          <p:cNvSpPr/>
          <p:nvPr/>
        </p:nvSpPr>
        <p:spPr>
          <a:xfrm>
            <a:off x="8229600" y="2057400"/>
            <a:ext cx="3383280" cy="54864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Peak weekly revenue (week of Dec 18, 2017)</a:t>
            </a:r>
            <a:endParaRPr lang="en-US" sz="1150" dirty="0"/>
          </a:p>
        </p:txBody>
      </p:sp>
      <p:sp>
        <p:nvSpPr>
          <p:cNvPr id="7" name="Text 4"/>
          <p:cNvSpPr/>
          <p:nvPr/>
        </p:nvSpPr>
        <p:spPr>
          <a:xfrm>
            <a:off x="8229600" y="2816352"/>
            <a:ext cx="3383280" cy="411480"/>
          </a:xfrm>
          <a:prstGeom prst="rect">
            <a:avLst/>
          </a:prstGeom>
          <a:noFill/>
          <a:ln/>
        </p:spPr>
        <p:txBody>
          <a:bodyPr wrap="square" lIns="0" tIns="0" rIns="0" bIns="0" rtlCol="0" anchor="ctr"/>
          <a:lstStyle/>
          <a:p>
            <a:pPr indent="0" marL="0">
              <a:buNone/>
            </a:pPr>
            <a:r>
              <a:rPr lang="en-US" sz="2000" b="1" dirty="0">
                <a:solidFill>
                  <a:srgbClr val="13315C"/>
                </a:solidFill>
                <a:latin typeface="Cambria" pitchFamily="34" charset="0"/>
                <a:ea typeface="Cambria" pitchFamily="34" charset="-122"/>
                <a:cs typeface="Cambria" pitchFamily="34" charset="-120"/>
              </a:rPr>
              <a:t>R$ 170.2K</a:t>
            </a:r>
            <a:endParaRPr lang="en-US" sz="2000" dirty="0"/>
          </a:p>
        </p:txBody>
      </p:sp>
      <p:sp>
        <p:nvSpPr>
          <p:cNvPr id="8" name="Text 5"/>
          <p:cNvSpPr/>
          <p:nvPr/>
        </p:nvSpPr>
        <p:spPr>
          <a:xfrm>
            <a:off x="8229600" y="3227832"/>
            <a:ext cx="3383280" cy="54864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Average weekly revenue across the period</a:t>
            </a:r>
            <a:endParaRPr lang="en-US" sz="1150" dirty="0"/>
          </a:p>
        </p:txBody>
      </p:sp>
      <p:sp>
        <p:nvSpPr>
          <p:cNvPr id="9" name="Text 6"/>
          <p:cNvSpPr/>
          <p:nvPr/>
        </p:nvSpPr>
        <p:spPr>
          <a:xfrm>
            <a:off x="8229600" y="3986784"/>
            <a:ext cx="3383280" cy="411480"/>
          </a:xfrm>
          <a:prstGeom prst="rect">
            <a:avLst/>
          </a:prstGeom>
          <a:noFill/>
          <a:ln/>
        </p:spPr>
        <p:txBody>
          <a:bodyPr wrap="square" lIns="0" tIns="0" rIns="0" bIns="0" rtlCol="0" anchor="ctr"/>
          <a:lstStyle/>
          <a:p>
            <a:pPr indent="0" marL="0">
              <a:buNone/>
            </a:pPr>
            <a:r>
              <a:rPr lang="en-US" sz="2000" b="1" dirty="0">
                <a:solidFill>
                  <a:srgbClr val="E8792B"/>
                </a:solidFill>
                <a:latin typeface="Cambria" pitchFamily="34" charset="0"/>
                <a:ea typeface="Cambria" pitchFamily="34" charset="-122"/>
                <a:cs typeface="Cambria" pitchFamily="34" charset="-120"/>
              </a:rPr>
              <a:t>54 → 2 days</a:t>
            </a:r>
            <a:endParaRPr lang="en-US" sz="2000" dirty="0"/>
          </a:p>
        </p:txBody>
      </p:sp>
      <p:sp>
        <p:nvSpPr>
          <p:cNvPr id="10" name="Text 7"/>
          <p:cNvSpPr/>
          <p:nvPr/>
        </p:nvSpPr>
        <p:spPr>
          <a:xfrm>
            <a:off x="8229600" y="4398264"/>
            <a:ext cx="3383280" cy="54864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Delivery time from start to end of period</a:t>
            </a:r>
            <a:endParaRPr lang="en-US" sz="1150" dirty="0"/>
          </a:p>
        </p:txBody>
      </p:sp>
      <p:sp>
        <p:nvSpPr>
          <p:cNvPr id="11" name="Text 8"/>
          <p:cNvSpPr/>
          <p:nvPr/>
        </p:nvSpPr>
        <p:spPr>
          <a:xfrm>
            <a:off x="8229600" y="5157216"/>
            <a:ext cx="3383280" cy="411480"/>
          </a:xfrm>
          <a:prstGeom prst="rect">
            <a:avLst/>
          </a:prstGeom>
          <a:noFill/>
          <a:ln/>
        </p:spPr>
        <p:txBody>
          <a:bodyPr wrap="square" lIns="0" tIns="0" rIns="0" bIns="0" rtlCol="0" anchor="ctr"/>
          <a:lstStyle/>
          <a:p>
            <a:pPr indent="0" marL="0">
              <a:buNone/>
            </a:pPr>
            <a:r>
              <a:rPr lang="en-US" sz="2000" b="1" dirty="0">
                <a:solidFill>
                  <a:srgbClr val="E8792B"/>
                </a:solidFill>
                <a:latin typeface="Cambria" pitchFamily="34" charset="0"/>
                <a:ea typeface="Cambria" pitchFamily="34" charset="-122"/>
                <a:cs typeface="Cambria" pitchFamily="34" charset="-120"/>
              </a:rPr>
              <a:t>12.6 days</a:t>
            </a:r>
            <a:endParaRPr lang="en-US" sz="2000" dirty="0"/>
          </a:p>
        </p:txBody>
      </p:sp>
      <p:sp>
        <p:nvSpPr>
          <p:cNvPr id="12" name="Text 9"/>
          <p:cNvSpPr/>
          <p:nvPr/>
        </p:nvSpPr>
        <p:spPr>
          <a:xfrm>
            <a:off x="8229600" y="5568696"/>
            <a:ext cx="3383280" cy="54864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Overall average delivery time, trending down</a:t>
            </a:r>
            <a:endParaRPr lang="en-US" sz="1150" dirty="0"/>
          </a:p>
        </p:txBody>
      </p:sp>
      <p:sp>
        <p:nvSpPr>
          <p:cNvPr id="13" name="Text 10"/>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GROWTH</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Year-over-Year: Revenue Up ~244%</a:t>
            </a:r>
            <a:endParaRPr lang="en-US" sz="3200" dirty="0"/>
          </a:p>
        </p:txBody>
      </p:sp>
      <p:pic>
        <p:nvPicPr>
          <p:cNvPr id="4" name="Image 0" descr="/home/claude/images/img-002-top.jpg">    </p:cNvPr>
          <p:cNvPicPr>
            <a:picLocks noChangeAspect="1"/>
          </p:cNvPicPr>
          <p:nvPr/>
        </p:nvPicPr>
        <p:blipFill>
          <a:blip r:embed="rId1"/>
          <a:stretch>
            <a:fillRect/>
          </a:stretch>
        </p:blipFill>
        <p:spPr>
          <a:xfrm>
            <a:off x="548640" y="2148840"/>
            <a:ext cx="6035040" cy="2292301"/>
          </a:xfrm>
          <a:prstGeom prst="rect">
            <a:avLst/>
          </a:prstGeom>
        </p:spPr>
      </p:pic>
      <p:sp>
        <p:nvSpPr>
          <p:cNvPr id="5" name="Shape 2"/>
          <p:cNvSpPr/>
          <p:nvPr/>
        </p:nvSpPr>
        <p:spPr>
          <a:xfrm>
            <a:off x="6949440" y="1828800"/>
            <a:ext cx="4663440" cy="4297680"/>
          </a:xfrm>
          <a:prstGeom prst="roundRect">
            <a:avLst>
              <a:gd name="adj" fmla="val 1702"/>
            </a:avLst>
          </a:prstGeom>
          <a:solidFill>
            <a:srgbClr val="F4F7FB"/>
          </a:solidFill>
          <a:ln w="9525">
            <a:solidFill>
              <a:srgbClr val="DDE5EF"/>
            </a:solidFill>
            <a:prstDash val="solid"/>
          </a:ln>
        </p:spPr>
      </p:sp>
      <p:sp>
        <p:nvSpPr>
          <p:cNvPr id="6" name="Text 3"/>
          <p:cNvSpPr/>
          <p:nvPr/>
        </p:nvSpPr>
        <p:spPr>
          <a:xfrm>
            <a:off x="7223760" y="2148840"/>
            <a:ext cx="4114800" cy="502920"/>
          </a:xfrm>
          <a:prstGeom prst="rect">
            <a:avLst/>
          </a:prstGeom>
          <a:noFill/>
          <a:ln/>
        </p:spPr>
        <p:txBody>
          <a:bodyPr wrap="square" lIns="0" tIns="0" rIns="0" bIns="0" rtlCol="0" anchor="ctr"/>
          <a:lstStyle/>
          <a:p>
            <a:pPr indent="0" marL="0">
              <a:buNone/>
            </a:pPr>
            <a:r>
              <a:rPr lang="en-US" sz="2400" b="1" dirty="0">
                <a:solidFill>
                  <a:srgbClr val="13315C"/>
                </a:solidFill>
                <a:latin typeface="Cambria" pitchFamily="34" charset="0"/>
                <a:ea typeface="Cambria" pitchFamily="34" charset="-122"/>
                <a:cs typeface="Cambria" pitchFamily="34" charset="-120"/>
              </a:rPr>
              <a:t>R$ 3.49M → R$ 12.00M</a:t>
            </a:r>
            <a:endParaRPr lang="en-US" sz="2400" dirty="0"/>
          </a:p>
        </p:txBody>
      </p:sp>
      <p:sp>
        <p:nvSpPr>
          <p:cNvPr id="7" name="Text 4"/>
          <p:cNvSpPr/>
          <p:nvPr/>
        </p:nvSpPr>
        <p:spPr>
          <a:xfrm>
            <a:off x="7223760" y="2651760"/>
            <a:ext cx="4114800" cy="365760"/>
          </a:xfrm>
          <a:prstGeom prst="rect">
            <a:avLst/>
          </a:prstGeom>
          <a:noFill/>
          <a:ln/>
        </p:spPr>
        <p:txBody>
          <a:bodyPr wrap="square" lIns="0" tIns="0" rIns="0" bIns="0" rtlCol="0" anchor="ctr"/>
          <a:lstStyle/>
          <a:p>
            <a:pPr indent="0" marL="0">
              <a:buNone/>
            </a:pPr>
            <a:r>
              <a:rPr lang="en-US" sz="1250" dirty="0">
                <a:solidFill>
                  <a:srgbClr val="5B6672"/>
                </a:solidFill>
                <a:latin typeface="Calibri" pitchFamily="34" charset="0"/>
                <a:ea typeface="Calibri" pitchFamily="34" charset="-122"/>
                <a:cs typeface="Calibri" pitchFamily="34" charset="-120"/>
              </a:rPr>
              <a:t>Previous 12 months vs. most recent 12 months</a:t>
            </a:r>
            <a:endParaRPr lang="en-US" sz="1250" dirty="0"/>
          </a:p>
        </p:txBody>
      </p:sp>
      <p:sp>
        <p:nvSpPr>
          <p:cNvPr id="8" name="Text 5"/>
          <p:cNvSpPr/>
          <p:nvPr/>
        </p:nvSpPr>
        <p:spPr>
          <a:xfrm>
            <a:off x="7223760" y="3200400"/>
            <a:ext cx="4114800" cy="822960"/>
          </a:xfrm>
          <a:prstGeom prst="rect">
            <a:avLst/>
          </a:prstGeom>
          <a:noFill/>
          <a:ln/>
        </p:spPr>
        <p:txBody>
          <a:bodyPr wrap="square" lIns="0" tIns="0" rIns="0" bIns="0" rtlCol="0" anchor="ctr"/>
          <a:lstStyle/>
          <a:p>
            <a:pPr indent="0" marL="0">
              <a:buNone/>
            </a:pPr>
            <a:r>
              <a:rPr lang="en-US" sz="5400" b="1" dirty="0">
                <a:solidFill>
                  <a:srgbClr val="E8792B"/>
                </a:solidFill>
                <a:latin typeface="Cambria" pitchFamily="34" charset="0"/>
                <a:ea typeface="Cambria" pitchFamily="34" charset="-122"/>
                <a:cs typeface="Cambria" pitchFamily="34" charset="-120"/>
              </a:rPr>
              <a:t>+244%</a:t>
            </a:r>
            <a:endParaRPr lang="en-US" sz="5400" dirty="0"/>
          </a:p>
        </p:txBody>
      </p:sp>
      <p:sp>
        <p:nvSpPr>
          <p:cNvPr id="9" name="Text 6"/>
          <p:cNvSpPr/>
          <p:nvPr/>
        </p:nvSpPr>
        <p:spPr>
          <a:xfrm>
            <a:off x="7223760" y="4206240"/>
            <a:ext cx="4114800" cy="17373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23262B"/>
                </a:solidFill>
                <a:latin typeface="Calibri" pitchFamily="34" charset="0"/>
                <a:ea typeface="Calibri" pitchFamily="34" charset="-122"/>
                <a:cs typeface="Calibri" pitchFamily="34" charset="-120"/>
              </a:rPr>
              <a:t>77.5% of all revenue came from the latest 12-month period — clear evidence of rapid expansion.</a:t>
            </a:r>
            <a:endParaRPr lang="en-US" sz="1350" dirty="0"/>
          </a:p>
          <a:p>
            <a:pPr marL="342900" indent="-342900">
              <a:buSzPct val="100000"/>
              <a:buChar char="•"/>
            </a:pPr>
            <a:r>
              <a:rPr lang="en-US" sz="1350" dirty="0">
                <a:solidFill>
                  <a:srgbClr val="23262B"/>
                </a:solidFill>
                <a:latin typeface="Calibri" pitchFamily="34" charset="0"/>
                <a:ea typeface="Calibri" pitchFamily="34" charset="-122"/>
                <a:cs typeface="Calibri" pitchFamily="34" charset="-120"/>
              </a:rPr>
              <a:t>Cumulative revenue reached R$ 15.49M across the full analysis window.</a:t>
            </a:r>
            <a:endParaRPr lang="en-US" sz="1350" dirty="0"/>
          </a:p>
        </p:txBody>
      </p:sp>
      <p:sp>
        <p:nvSpPr>
          <p:cNvPr id="10" name="Text 7"/>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OPERATIONS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Deliveries: 9 in 10 Orders Arrive On Time</a:t>
            </a:r>
            <a:endParaRPr lang="en-US" sz="3200" dirty="0"/>
          </a:p>
        </p:txBody>
      </p:sp>
      <p:pic>
        <p:nvPicPr>
          <p:cNvPr id="4" name="Image 0" descr="/home/claude/images/img-002-bottom.jpg">    </p:cNvPr>
          <p:cNvPicPr>
            <a:picLocks noChangeAspect="1"/>
          </p:cNvPicPr>
          <p:nvPr/>
        </p:nvPicPr>
        <p:blipFill>
          <a:blip r:embed="rId1"/>
          <a:stretch>
            <a:fillRect/>
          </a:stretch>
        </p:blipFill>
        <p:spPr>
          <a:xfrm>
            <a:off x="548640" y="2148840"/>
            <a:ext cx="6035040" cy="2231443"/>
          </a:xfrm>
          <a:prstGeom prst="rect">
            <a:avLst/>
          </a:prstGeom>
        </p:spPr>
      </p:pic>
      <p:sp>
        <p:nvSpPr>
          <p:cNvPr id="5" name="Text 2"/>
          <p:cNvSpPr/>
          <p:nvPr/>
        </p:nvSpPr>
        <p:spPr>
          <a:xfrm>
            <a:off x="6949440" y="1920240"/>
            <a:ext cx="4663440" cy="868680"/>
          </a:xfrm>
          <a:prstGeom prst="rect">
            <a:avLst/>
          </a:prstGeom>
          <a:noFill/>
          <a:ln/>
        </p:spPr>
        <p:txBody>
          <a:bodyPr wrap="square" lIns="0" tIns="0" rIns="0" bIns="0" rtlCol="0" anchor="ctr"/>
          <a:lstStyle/>
          <a:p>
            <a:pPr indent="0" marL="0">
              <a:buNone/>
            </a:pPr>
            <a:r>
              <a:rPr lang="en-US" sz="6000" b="1" dirty="0">
                <a:solidFill>
                  <a:srgbClr val="2E8B57"/>
                </a:solidFill>
                <a:latin typeface="Cambria" pitchFamily="34" charset="0"/>
                <a:ea typeface="Cambria" pitchFamily="34" charset="-122"/>
                <a:cs typeface="Cambria" pitchFamily="34" charset="-120"/>
              </a:rPr>
              <a:t>91.88%</a:t>
            </a:r>
            <a:endParaRPr lang="en-US" sz="6000" dirty="0"/>
          </a:p>
        </p:txBody>
      </p:sp>
      <p:sp>
        <p:nvSpPr>
          <p:cNvPr id="6" name="Text 3"/>
          <p:cNvSpPr/>
          <p:nvPr/>
        </p:nvSpPr>
        <p:spPr>
          <a:xfrm>
            <a:off x="6949440" y="2788920"/>
            <a:ext cx="4572000" cy="411480"/>
          </a:xfrm>
          <a:prstGeom prst="rect">
            <a:avLst/>
          </a:prstGeom>
          <a:noFill/>
          <a:ln/>
        </p:spPr>
        <p:txBody>
          <a:bodyPr wrap="square" lIns="0" tIns="0" rIns="0" bIns="0" rtlCol="0" anchor="ctr"/>
          <a:lstStyle/>
          <a:p>
            <a:pPr indent="0" marL="0">
              <a:buNone/>
            </a:pPr>
            <a:r>
              <a:rPr lang="en-US" sz="1400" dirty="0">
                <a:solidFill>
                  <a:srgbClr val="5B6672"/>
                </a:solidFill>
                <a:latin typeface="Calibri" pitchFamily="34" charset="0"/>
                <a:ea typeface="Calibri" pitchFamily="34" charset="-122"/>
                <a:cs typeface="Calibri" pitchFamily="34" charset="-120"/>
              </a:rPr>
              <a:t>of ~96.5K orders delivered on or before the estimated date</a:t>
            </a:r>
            <a:endParaRPr lang="en-US" sz="1400" dirty="0"/>
          </a:p>
        </p:txBody>
      </p:sp>
      <p:sp>
        <p:nvSpPr>
          <p:cNvPr id="7" name="Text 4"/>
          <p:cNvSpPr/>
          <p:nvPr/>
        </p:nvSpPr>
        <p:spPr>
          <a:xfrm>
            <a:off x="6949440" y="3474720"/>
            <a:ext cx="4663440" cy="640080"/>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8.12%</a:t>
            </a:r>
            <a:endParaRPr lang="en-US" sz="4000" dirty="0"/>
          </a:p>
        </p:txBody>
      </p:sp>
      <p:sp>
        <p:nvSpPr>
          <p:cNvPr id="8" name="Text 5"/>
          <p:cNvSpPr/>
          <p:nvPr/>
        </p:nvSpPr>
        <p:spPr>
          <a:xfrm>
            <a:off x="6949440" y="4114800"/>
            <a:ext cx="4572000" cy="411480"/>
          </a:xfrm>
          <a:prstGeom prst="rect">
            <a:avLst/>
          </a:prstGeom>
          <a:noFill/>
          <a:ln/>
        </p:spPr>
        <p:txBody>
          <a:bodyPr wrap="square" lIns="0" tIns="0" rIns="0" bIns="0" rtlCol="0" anchor="ctr"/>
          <a:lstStyle/>
          <a:p>
            <a:pPr indent="0" marL="0">
              <a:buNone/>
            </a:pPr>
            <a:r>
              <a:rPr lang="en-US" sz="1400" dirty="0">
                <a:solidFill>
                  <a:srgbClr val="5B6672"/>
                </a:solidFill>
                <a:latin typeface="Calibri" pitchFamily="34" charset="0"/>
                <a:ea typeface="Calibri" pitchFamily="34" charset="-122"/>
                <a:cs typeface="Calibri" pitchFamily="34" charset="-120"/>
              </a:rPr>
              <a:t>late deliveries — low, and shrinking as logistics improved</a:t>
            </a:r>
            <a:endParaRPr lang="en-US" sz="1400" dirty="0"/>
          </a:p>
        </p:txBody>
      </p:sp>
      <p:sp>
        <p:nvSpPr>
          <p:cNvPr id="9" name="Shape 6"/>
          <p:cNvSpPr/>
          <p:nvPr/>
        </p:nvSpPr>
        <p:spPr>
          <a:xfrm>
            <a:off x="6949440" y="4846320"/>
            <a:ext cx="4663440" cy="1234440"/>
          </a:xfrm>
          <a:prstGeom prst="roundRect">
            <a:avLst>
              <a:gd name="adj" fmla="val 5926"/>
            </a:avLst>
          </a:prstGeom>
          <a:solidFill>
            <a:srgbClr val="EAF2FF"/>
          </a:solidFill>
          <a:ln/>
        </p:spPr>
      </p:sp>
      <p:sp>
        <p:nvSpPr>
          <p:cNvPr id="10" name="Text 7"/>
          <p:cNvSpPr/>
          <p:nvPr/>
        </p:nvSpPr>
        <p:spPr>
          <a:xfrm>
            <a:off x="7178040" y="4983480"/>
            <a:ext cx="4206240" cy="960120"/>
          </a:xfrm>
          <a:prstGeom prst="rect">
            <a:avLst/>
          </a:prstGeom>
          <a:noFill/>
          <a:ln/>
        </p:spPr>
        <p:txBody>
          <a:bodyPr wrap="square" lIns="0" tIns="0" rIns="0" bIns="0" rtlCol="0" anchor="ctr"/>
          <a:lstStyle/>
          <a:p>
            <a:pPr indent="0" marL="0">
              <a:buNone/>
            </a:pPr>
            <a:r>
              <a:rPr lang="en-US" sz="1300" i="1" dirty="0">
                <a:solidFill>
                  <a:srgbClr val="13315C"/>
                </a:solidFill>
                <a:latin typeface="Calibri" pitchFamily="34" charset="0"/>
                <a:ea typeface="Calibri" pitchFamily="34" charset="-122"/>
                <a:cs typeface="Calibri" pitchFamily="34" charset="-120"/>
              </a:rPr>
              <a:t>Reliable fulfillment underpins the 4.08★ average review score — delivery experience and customer satisfaction move together.</a:t>
            </a:r>
            <a:endParaRPr lang="en-US" sz="1300" dirty="0"/>
          </a:p>
        </p:txBody>
      </p:sp>
      <p:sp>
        <p:nvSpPr>
          <p:cNvPr id="11" name="Text 8"/>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PARETO ANALYSIS · GEOGRAPHY</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8 States Generate ~81% of Revenue</a:t>
            </a:r>
            <a:endParaRPr lang="en-US" sz="3200" dirty="0"/>
          </a:p>
        </p:txBody>
      </p:sp>
      <p:pic>
        <p:nvPicPr>
          <p:cNvPr id="4" name="Image 0" descr="/home/claude/images/img-003.jpg">    </p:cNvPr>
          <p:cNvPicPr>
            <a:picLocks noChangeAspect="1"/>
          </p:cNvPicPr>
          <p:nvPr/>
        </p:nvPicPr>
        <p:blipFill>
          <a:blip r:embed="rId1"/>
          <a:stretch>
            <a:fillRect/>
          </a:stretch>
        </p:blipFill>
        <p:spPr>
          <a:xfrm>
            <a:off x="548640" y="1600200"/>
            <a:ext cx="7223760" cy="5166184"/>
          </a:xfrm>
          <a:prstGeom prst="rect">
            <a:avLst/>
          </a:prstGeom>
        </p:spPr>
      </p:pic>
      <p:sp>
        <p:nvSpPr>
          <p:cNvPr id="5" name="Text 2"/>
          <p:cNvSpPr/>
          <p:nvPr/>
        </p:nvSpPr>
        <p:spPr>
          <a:xfrm>
            <a:off x="8046720" y="1783080"/>
            <a:ext cx="3566160" cy="457200"/>
          </a:xfrm>
          <a:prstGeom prst="rect">
            <a:avLst/>
          </a:prstGeom>
          <a:noFill/>
          <a:ln/>
        </p:spPr>
        <p:txBody>
          <a:bodyPr wrap="square" lIns="0" tIns="0" rIns="0" bIns="0" rtlCol="0" anchor="ctr"/>
          <a:lstStyle/>
          <a:p>
            <a:pPr indent="0" marL="0">
              <a:buNone/>
            </a:pPr>
            <a:r>
              <a:rPr lang="en-US" sz="2400" b="1" dirty="0">
                <a:solidFill>
                  <a:srgbClr val="13315C"/>
                </a:solidFill>
                <a:latin typeface="Cambria" pitchFamily="34" charset="0"/>
                <a:ea typeface="Cambria" pitchFamily="34" charset="-122"/>
                <a:cs typeface="Cambria" pitchFamily="34" charset="-120"/>
              </a:rPr>
              <a:t>~33%</a:t>
            </a:r>
            <a:endParaRPr lang="en-US" sz="2400" dirty="0"/>
          </a:p>
        </p:txBody>
      </p:sp>
      <p:sp>
        <p:nvSpPr>
          <p:cNvPr id="6" name="Text 3"/>
          <p:cNvSpPr/>
          <p:nvPr/>
        </p:nvSpPr>
        <p:spPr>
          <a:xfrm>
            <a:off x="8046720" y="2240280"/>
            <a:ext cx="3566160" cy="68580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of total revenue comes from São Paulo alone — the single dominant market</a:t>
            </a:r>
            <a:endParaRPr lang="en-US" sz="1200" dirty="0"/>
          </a:p>
        </p:txBody>
      </p:sp>
      <p:sp>
        <p:nvSpPr>
          <p:cNvPr id="7" name="Text 4"/>
          <p:cNvSpPr/>
          <p:nvPr/>
        </p:nvSpPr>
        <p:spPr>
          <a:xfrm>
            <a:off x="8046720" y="3154680"/>
            <a:ext cx="3566160" cy="457200"/>
          </a:xfrm>
          <a:prstGeom prst="rect">
            <a:avLst/>
          </a:prstGeom>
          <a:noFill/>
          <a:ln/>
        </p:spPr>
        <p:txBody>
          <a:bodyPr wrap="square" lIns="0" tIns="0" rIns="0" bIns="0" rtlCol="0" anchor="ctr"/>
          <a:lstStyle/>
          <a:p>
            <a:pPr indent="0" marL="0">
              <a:buNone/>
            </a:pPr>
            <a:r>
              <a:rPr lang="en-US" sz="2400" b="1" dirty="0">
                <a:solidFill>
                  <a:srgbClr val="13315C"/>
                </a:solidFill>
                <a:latin typeface="Cambria" pitchFamily="34" charset="0"/>
                <a:ea typeface="Cambria" pitchFamily="34" charset="-122"/>
                <a:cs typeface="Cambria" pitchFamily="34" charset="-120"/>
              </a:rPr>
              <a:t>SP · RJ · MG</a:t>
            </a:r>
            <a:endParaRPr lang="en-US" sz="2400" dirty="0"/>
          </a:p>
        </p:txBody>
      </p:sp>
      <p:sp>
        <p:nvSpPr>
          <p:cNvPr id="8" name="Text 5"/>
          <p:cNvSpPr/>
          <p:nvPr/>
        </p:nvSpPr>
        <p:spPr>
          <a:xfrm>
            <a:off x="8046720" y="3611880"/>
            <a:ext cx="3566160" cy="68580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lead a highly concentrated distribution of sales</a:t>
            </a:r>
            <a:endParaRPr lang="en-US" sz="1200" dirty="0"/>
          </a:p>
        </p:txBody>
      </p:sp>
      <p:sp>
        <p:nvSpPr>
          <p:cNvPr id="9" name="Text 6"/>
          <p:cNvSpPr/>
          <p:nvPr/>
        </p:nvSpPr>
        <p:spPr>
          <a:xfrm>
            <a:off x="8046720" y="4526280"/>
            <a:ext cx="3566160" cy="457200"/>
          </a:xfrm>
          <a:prstGeom prst="rect">
            <a:avLst/>
          </a:prstGeom>
          <a:noFill/>
          <a:ln/>
        </p:spPr>
        <p:txBody>
          <a:bodyPr wrap="square" lIns="0" tIns="0" rIns="0" bIns="0" rtlCol="0" anchor="ctr"/>
          <a:lstStyle/>
          <a:p>
            <a:pPr indent="0" marL="0">
              <a:buNone/>
            </a:pPr>
            <a:r>
              <a:rPr lang="en-US" sz="2400" b="1" dirty="0">
                <a:solidFill>
                  <a:srgbClr val="13315C"/>
                </a:solidFill>
                <a:latin typeface="Cambria" pitchFamily="34" charset="0"/>
                <a:ea typeface="Cambria" pitchFamily="34" charset="-122"/>
                <a:cs typeface="Cambria" pitchFamily="34" charset="-120"/>
              </a:rPr>
              <a:t>81% / 19%</a:t>
            </a:r>
            <a:endParaRPr lang="en-US" sz="2400" dirty="0"/>
          </a:p>
        </p:txBody>
      </p:sp>
      <p:sp>
        <p:nvSpPr>
          <p:cNvPr id="10" name="Text 7"/>
          <p:cNvSpPr/>
          <p:nvPr/>
        </p:nvSpPr>
        <p:spPr>
          <a:xfrm>
            <a:off x="8046720" y="4983480"/>
            <a:ext cx="3566160" cy="68580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top 8 states vs. all remaining states — a classic 80/20 split</a:t>
            </a:r>
            <a:endParaRPr lang="en-US" sz="1200" dirty="0"/>
          </a:p>
        </p:txBody>
      </p:sp>
      <p:sp>
        <p:nvSpPr>
          <p:cNvPr id="11" name="Text 8"/>
          <p:cNvSpPr/>
          <p:nvPr/>
        </p:nvSpPr>
        <p:spPr>
          <a:xfrm>
            <a:off x="8046720" y="5897880"/>
            <a:ext cx="3566160" cy="685800"/>
          </a:xfrm>
          <a:prstGeom prst="rect">
            <a:avLst/>
          </a:prstGeom>
          <a:noFill/>
          <a:ln/>
        </p:spPr>
        <p:txBody>
          <a:bodyPr wrap="square" lIns="0" tIns="0" rIns="0" bIns="0" rtlCol="0" anchor="ctr"/>
          <a:lstStyle/>
          <a:p>
            <a:pPr indent="0" marL="0">
              <a:buNone/>
            </a:pPr>
            <a:r>
              <a:rPr lang="en-US" sz="1250" i="1" dirty="0">
                <a:solidFill>
                  <a:srgbClr val="E8792B"/>
                </a:solidFill>
                <a:latin typeface="Calibri" pitchFamily="34" charset="0"/>
                <a:ea typeface="Calibri" pitchFamily="34" charset="-122"/>
                <a:cs typeface="Calibri" pitchFamily="34" charset="-120"/>
              </a:rPr>
              <a:t>Long tail of low-performing regions = headroom for targeted regional growth</a:t>
            </a:r>
            <a:endParaRPr lang="en-US" sz="1250" dirty="0"/>
          </a:p>
        </p:txBody>
      </p:sp>
      <p:sp>
        <p:nvSpPr>
          <p:cNvPr id="12" name="Text 9"/>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PARETO ANALYSIS · PORTFOLIO</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15 Categories Drive ~81% of Revenue</a:t>
            </a:r>
            <a:endParaRPr lang="en-US" sz="3200" dirty="0"/>
          </a:p>
        </p:txBody>
      </p:sp>
      <p:pic>
        <p:nvPicPr>
          <p:cNvPr id="4" name="Image 0" descr="/home/claude/images/img-004.jpg">    </p:cNvPr>
          <p:cNvPicPr>
            <a:picLocks noChangeAspect="1"/>
          </p:cNvPicPr>
          <p:nvPr/>
        </p:nvPicPr>
        <p:blipFill>
          <a:blip r:embed="rId1"/>
          <a:stretch>
            <a:fillRect/>
          </a:stretch>
        </p:blipFill>
        <p:spPr>
          <a:xfrm>
            <a:off x="548640" y="1600200"/>
            <a:ext cx="7223760" cy="5188428"/>
          </a:xfrm>
          <a:prstGeom prst="rect">
            <a:avLst/>
          </a:prstGeom>
        </p:spPr>
      </p:pic>
      <p:sp>
        <p:nvSpPr>
          <p:cNvPr id="5" name="Text 2"/>
          <p:cNvSpPr/>
          <p:nvPr/>
        </p:nvSpPr>
        <p:spPr>
          <a:xfrm>
            <a:off x="8046720" y="1783080"/>
            <a:ext cx="3611880" cy="457200"/>
          </a:xfrm>
          <a:prstGeom prst="rect">
            <a:avLst/>
          </a:prstGeom>
          <a:noFill/>
          <a:ln/>
        </p:spPr>
        <p:txBody>
          <a:bodyPr wrap="square" lIns="0" tIns="0" rIns="0" bIns="0" rtlCol="0" anchor="ctr"/>
          <a:lstStyle/>
          <a:p>
            <a:pPr indent="0" marL="0">
              <a:buNone/>
            </a:pPr>
            <a:r>
              <a:rPr lang="en-US" sz="2100" b="1" dirty="0">
                <a:solidFill>
                  <a:srgbClr val="13315C"/>
                </a:solidFill>
                <a:latin typeface="Cambria" pitchFamily="34" charset="0"/>
                <a:ea typeface="Cambria" pitchFamily="34" charset="-122"/>
                <a:cs typeface="Cambria" pitchFamily="34" charset="-120"/>
              </a:rPr>
              <a:t>#1 Health &amp; Beauty</a:t>
            </a:r>
            <a:endParaRPr lang="en-US" sz="2100" dirty="0"/>
          </a:p>
        </p:txBody>
      </p:sp>
      <p:sp>
        <p:nvSpPr>
          <p:cNvPr id="6" name="Text 3"/>
          <p:cNvSpPr/>
          <p:nvPr/>
        </p:nvSpPr>
        <p:spPr>
          <a:xfrm>
            <a:off x="8046720" y="2240280"/>
            <a:ext cx="3611880" cy="68580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top category, ahead of Watches &amp; Gifts and Bed, Bath &amp; Table</a:t>
            </a:r>
            <a:endParaRPr lang="en-US" sz="1200" dirty="0"/>
          </a:p>
        </p:txBody>
      </p:sp>
      <p:sp>
        <p:nvSpPr>
          <p:cNvPr id="7" name="Text 4"/>
          <p:cNvSpPr/>
          <p:nvPr/>
        </p:nvSpPr>
        <p:spPr>
          <a:xfrm>
            <a:off x="8046720" y="3154680"/>
            <a:ext cx="3611880" cy="457200"/>
          </a:xfrm>
          <a:prstGeom prst="rect">
            <a:avLst/>
          </a:prstGeom>
          <a:noFill/>
          <a:ln/>
        </p:spPr>
        <p:txBody>
          <a:bodyPr wrap="square" lIns="0" tIns="0" rIns="0" bIns="0" rtlCol="0" anchor="ctr"/>
          <a:lstStyle/>
          <a:p>
            <a:pPr indent="0" marL="0">
              <a:buNone/>
            </a:pPr>
            <a:r>
              <a:rPr lang="en-US" sz="2100" b="1" dirty="0">
                <a:solidFill>
                  <a:srgbClr val="13315C"/>
                </a:solidFill>
                <a:latin typeface="Cambria" pitchFamily="34" charset="0"/>
                <a:ea typeface="Cambria" pitchFamily="34" charset="-122"/>
                <a:cs typeface="Cambria" pitchFamily="34" charset="-120"/>
              </a:rPr>
              <a:t>Top 15 ≈ 81%</a:t>
            </a:r>
            <a:endParaRPr lang="en-US" sz="2100" dirty="0"/>
          </a:p>
        </p:txBody>
      </p:sp>
      <p:sp>
        <p:nvSpPr>
          <p:cNvPr id="8" name="Text 5"/>
          <p:cNvSpPr/>
          <p:nvPr/>
        </p:nvSpPr>
        <p:spPr>
          <a:xfrm>
            <a:off x="8046720" y="3611880"/>
            <a:ext cx="3611880" cy="68580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of revenue; remaining ~55 categories share &lt;20%</a:t>
            </a:r>
            <a:endParaRPr lang="en-US" sz="1200" dirty="0"/>
          </a:p>
        </p:txBody>
      </p:sp>
      <p:sp>
        <p:nvSpPr>
          <p:cNvPr id="9" name="Text 6"/>
          <p:cNvSpPr/>
          <p:nvPr/>
        </p:nvSpPr>
        <p:spPr>
          <a:xfrm>
            <a:off x="8046720" y="4526280"/>
            <a:ext cx="3611880" cy="457200"/>
          </a:xfrm>
          <a:prstGeom prst="rect">
            <a:avLst/>
          </a:prstGeom>
          <a:noFill/>
          <a:ln/>
        </p:spPr>
        <p:txBody>
          <a:bodyPr wrap="square" lIns="0" tIns="0" rIns="0" bIns="0" rtlCol="0" anchor="ctr"/>
          <a:lstStyle/>
          <a:p>
            <a:pPr indent="0" marL="0">
              <a:buNone/>
            </a:pPr>
            <a:r>
              <a:rPr lang="en-US" sz="2100" b="1" dirty="0">
                <a:solidFill>
                  <a:srgbClr val="13315C"/>
                </a:solidFill>
                <a:latin typeface="Cambria" pitchFamily="34" charset="0"/>
                <a:ea typeface="Cambria" pitchFamily="34" charset="-122"/>
                <a:cs typeface="Cambria" pitchFamily="34" charset="-120"/>
              </a:rPr>
              <a:t>Long-tail portfolio</a:t>
            </a:r>
            <a:endParaRPr lang="en-US" sz="2100" dirty="0"/>
          </a:p>
        </p:txBody>
      </p:sp>
      <p:sp>
        <p:nvSpPr>
          <p:cNvPr id="10" name="Text 7"/>
          <p:cNvSpPr/>
          <p:nvPr/>
        </p:nvSpPr>
        <p:spPr>
          <a:xfrm>
            <a:off x="8046720" y="4983480"/>
            <a:ext cx="3611880" cy="68580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many niche categories with comparatively low sales</a:t>
            </a:r>
            <a:endParaRPr lang="en-US" sz="1200" dirty="0"/>
          </a:p>
        </p:txBody>
      </p:sp>
      <p:sp>
        <p:nvSpPr>
          <p:cNvPr id="11" name="Text 8"/>
          <p:cNvSpPr/>
          <p:nvPr/>
        </p:nvSpPr>
        <p:spPr>
          <a:xfrm>
            <a:off x="8046720" y="5897880"/>
            <a:ext cx="3611880" cy="685800"/>
          </a:xfrm>
          <a:prstGeom prst="rect">
            <a:avLst/>
          </a:prstGeom>
          <a:noFill/>
          <a:ln/>
        </p:spPr>
        <p:txBody>
          <a:bodyPr wrap="square" lIns="0" tIns="0" rIns="0" bIns="0" rtlCol="0" anchor="ctr"/>
          <a:lstStyle/>
          <a:p>
            <a:pPr indent="0" marL="0">
              <a:buNone/>
            </a:pPr>
            <a:r>
              <a:rPr lang="en-US" sz="1250" i="1" dirty="0">
                <a:solidFill>
                  <a:srgbClr val="E8792B"/>
                </a:solidFill>
                <a:latin typeface="Calibri" pitchFamily="34" charset="0"/>
                <a:ea typeface="Calibri" pitchFamily="34" charset="-122"/>
                <a:cs typeface="Calibri" pitchFamily="34" charset="-120"/>
              </a:rPr>
              <a:t>Skewed distribution → focus visibility and promotion on categories with breakout potential</a:t>
            </a:r>
            <a:endParaRPr lang="en-US" sz="1250" dirty="0"/>
          </a:p>
        </p:txBody>
      </p:sp>
      <p:sp>
        <p:nvSpPr>
          <p:cNvPr id="12" name="Text 9"/>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SELLER ECOSYSTEM</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RFM Segmentation: 412 Sellers Carry the Marketplace</a:t>
            </a:r>
            <a:endParaRPr lang="en-US" sz="3200" dirty="0"/>
          </a:p>
        </p:txBody>
      </p:sp>
      <p:pic>
        <p:nvPicPr>
          <p:cNvPr id="4" name="Image 0" descr="/home/claude/images/img-005.jpg">    </p:cNvPr>
          <p:cNvPicPr>
            <a:picLocks noChangeAspect="1"/>
          </p:cNvPicPr>
          <p:nvPr/>
        </p:nvPicPr>
        <p:blipFill>
          <a:blip r:embed="rId1"/>
          <a:stretch>
            <a:fillRect/>
          </a:stretch>
        </p:blipFill>
        <p:spPr>
          <a:xfrm>
            <a:off x="548640" y="1600200"/>
            <a:ext cx="6766560" cy="451104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35240" y="1737360"/>
          <a:ext cx="3977640" cy="914400"/>
        </p:xfrm>
        <a:graphic>
          <a:graphicData uri="http://schemas.openxmlformats.org/drawingml/2006/table">
            <a:tbl>
              <a:tblPr/>
              <a:tblGrid>
                <a:gridCol w="1691640"/>
                <a:gridCol w="1005840"/>
                <a:gridCol w="12801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1331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Sellers</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1331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Revenue</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13315C"/>
                    </a:solidFill>
                  </a:tcPr>
                </a:tc>
              </a:tr>
              <a:tr h="384048">
                <a:tc>
                  <a:txBody>
                    <a:bodyPr/>
                    <a:lstStyle/>
                    <a:p>
                      <a:pPr indent="0" marL="0">
                        <a:buNone/>
                      </a:pPr>
                      <a:r>
                        <a:rPr lang="en-US" sz="1200" b="1" dirty="0">
                          <a:solidFill>
                            <a:srgbClr val="23262B"/>
                          </a:solidFill>
                          <a:latin typeface="Calibri" pitchFamily="34" charset="0"/>
                          <a:ea typeface="Calibri" pitchFamily="34" charset="-122"/>
                          <a:cs typeface="Calibri" pitchFamily="34" charset="-120"/>
                        </a:rPr>
                        <a:t>Top Sellers</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412</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8792B"/>
                          </a:solidFill>
                          <a:latin typeface="Calibri" pitchFamily="34" charset="0"/>
                          <a:ea typeface="Calibri" pitchFamily="34" charset="-122"/>
                          <a:cs typeface="Calibri" pitchFamily="34" charset="-120"/>
                        </a:rPr>
                        <a:t>R$ 8.33M</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3262B"/>
                          </a:solidFill>
                          <a:latin typeface="Calibri" pitchFamily="34" charset="0"/>
                          <a:ea typeface="Calibri" pitchFamily="34" charset="-122"/>
                          <a:cs typeface="Calibri" pitchFamily="34" charset="-120"/>
                        </a:rPr>
                        <a:t>Potential Top</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687</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R$ 3.49M</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r>
              <a:tr h="384048">
                <a:tc>
                  <a:txBody>
                    <a:bodyPr/>
                    <a:lstStyle/>
                    <a:p>
                      <a:pPr indent="0" marL="0">
                        <a:buNone/>
                      </a:pPr>
                      <a:r>
                        <a:rPr lang="en-US" sz="1200" dirty="0">
                          <a:solidFill>
                            <a:srgbClr val="23262B"/>
                          </a:solidFill>
                          <a:latin typeface="Calibri" pitchFamily="34" charset="0"/>
                          <a:ea typeface="Calibri" pitchFamily="34" charset="-122"/>
                          <a:cs typeface="Calibri" pitchFamily="34" charset="-120"/>
                        </a:rPr>
                        <a:t>At Risk</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394</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R$ 2.82M</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3262B"/>
                          </a:solidFill>
                          <a:latin typeface="Calibri" pitchFamily="34" charset="0"/>
                          <a:ea typeface="Calibri" pitchFamily="34" charset="-122"/>
                          <a:cs typeface="Calibri" pitchFamily="34" charset="-120"/>
                        </a:rPr>
                        <a:t>Novice</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624</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R$ 1.17M</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r>
              <a:tr h="384048">
                <a:tc>
                  <a:txBody>
                    <a:bodyPr/>
                    <a:lstStyle/>
                    <a:p>
                      <a:pPr indent="0" marL="0">
                        <a:buNone/>
                      </a:pPr>
                      <a:r>
                        <a:rPr lang="en-US" sz="1200" dirty="0">
                          <a:solidFill>
                            <a:srgbClr val="23262B"/>
                          </a:solidFill>
                          <a:latin typeface="Calibri" pitchFamily="34" charset="0"/>
                          <a:ea typeface="Calibri" pitchFamily="34" charset="-122"/>
                          <a:cs typeface="Calibri" pitchFamily="34" charset="-120"/>
                        </a:rPr>
                        <a:t>Needs Attention</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699</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R$ 673K</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3262B"/>
                          </a:solidFill>
                          <a:latin typeface="Calibri" pitchFamily="34" charset="0"/>
                          <a:ea typeface="Calibri" pitchFamily="34" charset="-122"/>
                          <a:cs typeface="Calibri" pitchFamily="34" charset="-120"/>
                        </a:rPr>
                        <a:t>Promising</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154</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c>
                  <a:txBody>
                    <a:bodyPr/>
                    <a:lstStyle/>
                    <a:p>
                      <a:pPr algn="ctr" indent="0" marL="0">
                        <a:buNone/>
                      </a:pPr>
                      <a:r>
                        <a:rPr lang="en-US" sz="1200" dirty="0">
                          <a:solidFill>
                            <a:srgbClr val="23262B"/>
                          </a:solidFill>
                          <a:latin typeface="Calibri" pitchFamily="34" charset="0"/>
                          <a:ea typeface="Calibri" pitchFamily="34" charset="-122"/>
                          <a:cs typeface="Calibri" pitchFamily="34" charset="-120"/>
                        </a:rPr>
                        <a:t>R$ 19K</a:t>
                      </a:r>
                      <a:endParaRPr lang="en-US" sz="1200" dirty="0">
                        <a:latin typeface="Calibri" charset="0"/>
                        <a:ea typeface="Calibri" charset="0"/>
                        <a:cs typeface="Calibri" charset="0"/>
                      </a:endParaRPr>
                    </a:p>
                  </a:txBody>
                  <a:tcPr marL="54864" marR="54864" marT="54864" marB="54864" anchor="ctr">
                    <a:lnL w="9525" cap="flat" cmpd="sng" algn="ctr">
                      <a:solidFill>
                        <a:srgbClr val="DDE5EF"/>
                      </a:solidFill>
                      <a:prstDash val="solid"/>
                      <a:round/>
                      <a:headEnd type="none" w="med" len="med"/>
                      <a:tailEnd type="none" w="med" len="med"/>
                    </a:lnL>
                    <a:lnR w="9525" cap="flat" cmpd="sng" algn="ctr">
                      <a:solidFill>
                        <a:srgbClr val="DDE5EF"/>
                      </a:solidFill>
                      <a:prstDash val="solid"/>
                      <a:round/>
                      <a:headEnd type="none" w="med" len="med"/>
                      <a:tailEnd type="none" w="med" len="med"/>
                    </a:lnR>
                    <a:lnT w="9525" cap="flat" cmpd="sng" algn="ctr">
                      <a:solidFill>
                        <a:srgbClr val="DDE5EF"/>
                      </a:solidFill>
                      <a:prstDash val="solid"/>
                      <a:round/>
                      <a:headEnd type="none" w="med" len="med"/>
                      <a:tailEnd type="none" w="med" len="med"/>
                    </a:lnT>
                    <a:lnB w="9525" cap="flat" cmpd="sng" algn="ctr">
                      <a:solidFill>
                        <a:srgbClr val="DDE5EF"/>
                      </a:solidFill>
                      <a:prstDash val="solid"/>
                      <a:round/>
                      <a:headEnd type="none" w="med" len="med"/>
                      <a:tailEnd type="none" w="med" len="med"/>
                    </a:lnB>
                    <a:solidFill>
                      <a:srgbClr val="F4F7FB"/>
                    </a:solidFill>
                  </a:tcPr>
                </a:tc>
              </a:tr>
            </a:tbl>
          </a:graphicData>
        </a:graphic>
      </p:graphicFrame>
      <p:sp>
        <p:nvSpPr>
          <p:cNvPr id="6" name="Text 2"/>
          <p:cNvSpPr/>
          <p:nvPr/>
        </p:nvSpPr>
        <p:spPr>
          <a:xfrm>
            <a:off x="7635240" y="4709160"/>
            <a:ext cx="3977640" cy="411480"/>
          </a:xfrm>
          <a:prstGeom prst="rect">
            <a:avLst/>
          </a:prstGeom>
          <a:noFill/>
          <a:ln/>
        </p:spPr>
        <p:txBody>
          <a:bodyPr wrap="square" lIns="0" tIns="0" rIns="0" bIns="0" rtlCol="0" anchor="ctr"/>
          <a:lstStyle/>
          <a:p>
            <a:pPr indent="0" marL="0">
              <a:buNone/>
            </a:pPr>
            <a:r>
              <a:rPr lang="en-US" sz="1400" b="1" i="1" dirty="0">
                <a:solidFill>
                  <a:srgbClr val="E8792B"/>
                </a:solidFill>
                <a:latin typeface="Calibri" pitchFamily="34" charset="0"/>
                <a:ea typeface="Calibri" pitchFamily="34" charset="-122"/>
                <a:cs typeface="Calibri" pitchFamily="34" charset="-120"/>
              </a:rPr>
              <a:t>14% of sellers → over half of all revenue</a:t>
            </a:r>
            <a:endParaRPr lang="en-US" sz="1400" dirty="0"/>
          </a:p>
        </p:txBody>
      </p:sp>
      <p:sp>
        <p:nvSpPr>
          <p:cNvPr id="7" name="Text 3"/>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200" b="1" dirty="0">
                <a:solidFill>
                  <a:srgbClr val="13315C"/>
                </a:solidFill>
                <a:latin typeface="Cambria" pitchFamily="34" charset="0"/>
                <a:ea typeface="Cambria" pitchFamily="34" charset="-122"/>
                <a:cs typeface="Cambria" pitchFamily="34" charset="-120"/>
              </a:rPr>
              <a:t>Five Conclusions from Two Years of Data</a:t>
            </a:r>
            <a:endParaRPr lang="en-US" sz="3200" dirty="0"/>
          </a:p>
        </p:txBody>
      </p:sp>
      <p:sp>
        <p:nvSpPr>
          <p:cNvPr id="4" name="Shape 2"/>
          <p:cNvSpPr/>
          <p:nvPr/>
        </p:nvSpPr>
        <p:spPr>
          <a:xfrm>
            <a:off x="640080" y="1764792"/>
            <a:ext cx="502920" cy="502920"/>
          </a:xfrm>
          <a:prstGeom prst="ellipse">
            <a:avLst/>
          </a:prstGeom>
          <a:solidFill>
            <a:srgbClr val="13315C"/>
          </a:solidFill>
          <a:ln/>
        </p:spPr>
      </p:sp>
      <p:sp>
        <p:nvSpPr>
          <p:cNvPr id="5" name="Text 3"/>
          <p:cNvSpPr/>
          <p:nvPr/>
        </p:nvSpPr>
        <p:spPr>
          <a:xfrm>
            <a:off x="640080" y="17647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371600" y="1691640"/>
            <a:ext cx="3017520" cy="685800"/>
          </a:xfrm>
          <a:prstGeom prst="rect">
            <a:avLst/>
          </a:prstGeom>
          <a:noFill/>
          <a:ln/>
        </p:spPr>
        <p:txBody>
          <a:bodyPr wrap="square" lIns="0" tIns="0" rIns="0" bIns="0" rtlCol="0" anchor="ctr"/>
          <a:lstStyle/>
          <a:p>
            <a:pPr indent="0" marL="0">
              <a:buNone/>
            </a:pPr>
            <a:r>
              <a:rPr lang="en-US" sz="1700" b="1" dirty="0">
                <a:solidFill>
                  <a:srgbClr val="13315C"/>
                </a:solidFill>
                <a:latin typeface="Calibri" pitchFamily="34" charset="0"/>
                <a:ea typeface="Calibri" pitchFamily="34" charset="-122"/>
                <a:cs typeface="Calibri" pitchFamily="34" charset="-120"/>
              </a:rPr>
              <a:t>Rapid growth</a:t>
            </a:r>
            <a:endParaRPr lang="en-US" sz="1700" dirty="0"/>
          </a:p>
        </p:txBody>
      </p:sp>
      <p:sp>
        <p:nvSpPr>
          <p:cNvPr id="7" name="Text 5"/>
          <p:cNvSpPr/>
          <p:nvPr/>
        </p:nvSpPr>
        <p:spPr>
          <a:xfrm>
            <a:off x="4480560" y="1691640"/>
            <a:ext cx="7132320" cy="685800"/>
          </a:xfrm>
          <a:prstGeom prst="rect">
            <a:avLst/>
          </a:prstGeom>
          <a:noFill/>
          <a:ln/>
        </p:spPr>
        <p:txBody>
          <a:bodyPr wrap="square" lIns="0" tIns="0" rIns="0" bIns="0" rtlCol="0" anchor="ctr"/>
          <a:lstStyle/>
          <a:p>
            <a:pPr indent="0" marL="0">
              <a:buNone/>
            </a:pPr>
            <a:r>
              <a:rPr lang="en-US" sz="1400" dirty="0">
                <a:solidFill>
                  <a:srgbClr val="23262B"/>
                </a:solidFill>
                <a:latin typeface="Calibri" pitchFamily="34" charset="0"/>
                <a:ea typeface="Calibri" pitchFamily="34" charset="-122"/>
                <a:cs typeface="Calibri" pitchFamily="34" charset="-120"/>
              </a:rPr>
              <a:t>R$ 15.49M total revenue; +244% in the latest 12 months vs. the prior year.</a:t>
            </a:r>
            <a:endParaRPr lang="en-US" sz="1400" dirty="0"/>
          </a:p>
        </p:txBody>
      </p:sp>
      <p:sp>
        <p:nvSpPr>
          <p:cNvPr id="8" name="Shape 6"/>
          <p:cNvSpPr/>
          <p:nvPr/>
        </p:nvSpPr>
        <p:spPr>
          <a:xfrm>
            <a:off x="640080" y="2697480"/>
            <a:ext cx="502920" cy="502920"/>
          </a:xfrm>
          <a:prstGeom prst="ellipse">
            <a:avLst/>
          </a:prstGeom>
          <a:solidFill>
            <a:srgbClr val="13315C"/>
          </a:solidFill>
          <a:ln/>
        </p:spPr>
      </p:sp>
      <p:sp>
        <p:nvSpPr>
          <p:cNvPr id="9" name="Text 7"/>
          <p:cNvSpPr/>
          <p:nvPr/>
        </p:nvSpPr>
        <p:spPr>
          <a:xfrm>
            <a:off x="640080" y="2697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371600" y="2624328"/>
            <a:ext cx="3017520" cy="685800"/>
          </a:xfrm>
          <a:prstGeom prst="rect">
            <a:avLst/>
          </a:prstGeom>
          <a:noFill/>
          <a:ln/>
        </p:spPr>
        <p:txBody>
          <a:bodyPr wrap="square" lIns="0" tIns="0" rIns="0" bIns="0" rtlCol="0" anchor="ctr"/>
          <a:lstStyle/>
          <a:p>
            <a:pPr indent="0" marL="0">
              <a:buNone/>
            </a:pPr>
            <a:r>
              <a:rPr lang="en-US" sz="1700" b="1" dirty="0">
                <a:solidFill>
                  <a:srgbClr val="13315C"/>
                </a:solidFill>
                <a:latin typeface="Calibri" pitchFamily="34" charset="0"/>
                <a:ea typeface="Calibri" pitchFamily="34" charset="-122"/>
                <a:cs typeface="Calibri" pitchFamily="34" charset="-120"/>
              </a:rPr>
              <a:t>Logistics transformed</a:t>
            </a:r>
            <a:endParaRPr lang="en-US" sz="1700" dirty="0"/>
          </a:p>
        </p:txBody>
      </p:sp>
      <p:sp>
        <p:nvSpPr>
          <p:cNvPr id="11" name="Text 9"/>
          <p:cNvSpPr/>
          <p:nvPr/>
        </p:nvSpPr>
        <p:spPr>
          <a:xfrm>
            <a:off x="4480560" y="2624328"/>
            <a:ext cx="7132320" cy="685800"/>
          </a:xfrm>
          <a:prstGeom prst="rect">
            <a:avLst/>
          </a:prstGeom>
          <a:noFill/>
          <a:ln/>
        </p:spPr>
        <p:txBody>
          <a:bodyPr wrap="square" lIns="0" tIns="0" rIns="0" bIns="0" rtlCol="0" anchor="ctr"/>
          <a:lstStyle/>
          <a:p>
            <a:pPr indent="0" marL="0">
              <a:buNone/>
            </a:pPr>
            <a:r>
              <a:rPr lang="en-US" sz="1400" dirty="0">
                <a:solidFill>
                  <a:srgbClr val="23262B"/>
                </a:solidFill>
                <a:latin typeface="Calibri" pitchFamily="34" charset="0"/>
                <a:ea typeface="Calibri" pitchFamily="34" charset="-122"/>
                <a:cs typeface="Calibri" pitchFamily="34" charset="-120"/>
              </a:rPr>
              <a:t>Delivery time fell from 54 days to 2; 91.9% of orders on time.</a:t>
            </a:r>
            <a:endParaRPr lang="en-US" sz="1400" dirty="0"/>
          </a:p>
        </p:txBody>
      </p:sp>
      <p:sp>
        <p:nvSpPr>
          <p:cNvPr id="12" name="Shape 10"/>
          <p:cNvSpPr/>
          <p:nvPr/>
        </p:nvSpPr>
        <p:spPr>
          <a:xfrm>
            <a:off x="640080" y="3630168"/>
            <a:ext cx="502920" cy="502920"/>
          </a:xfrm>
          <a:prstGeom prst="ellipse">
            <a:avLst/>
          </a:prstGeom>
          <a:solidFill>
            <a:srgbClr val="13315C"/>
          </a:solidFill>
          <a:ln/>
        </p:spPr>
      </p:sp>
      <p:sp>
        <p:nvSpPr>
          <p:cNvPr id="13" name="Text 11"/>
          <p:cNvSpPr/>
          <p:nvPr/>
        </p:nvSpPr>
        <p:spPr>
          <a:xfrm>
            <a:off x="640080" y="36301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371600" y="3557016"/>
            <a:ext cx="3017520" cy="685800"/>
          </a:xfrm>
          <a:prstGeom prst="rect">
            <a:avLst/>
          </a:prstGeom>
          <a:noFill/>
          <a:ln/>
        </p:spPr>
        <p:txBody>
          <a:bodyPr wrap="square" lIns="0" tIns="0" rIns="0" bIns="0" rtlCol="0" anchor="ctr"/>
          <a:lstStyle/>
          <a:p>
            <a:pPr indent="0" marL="0">
              <a:buNone/>
            </a:pPr>
            <a:r>
              <a:rPr lang="en-US" sz="1700" b="1" dirty="0">
                <a:solidFill>
                  <a:srgbClr val="13315C"/>
                </a:solidFill>
                <a:latin typeface="Calibri" pitchFamily="34" charset="0"/>
                <a:ea typeface="Calibri" pitchFamily="34" charset="-122"/>
                <a:cs typeface="Calibri" pitchFamily="34" charset="-120"/>
              </a:rPr>
              <a:t>Pareto everywhere</a:t>
            </a:r>
            <a:endParaRPr lang="en-US" sz="1700" dirty="0"/>
          </a:p>
        </p:txBody>
      </p:sp>
      <p:sp>
        <p:nvSpPr>
          <p:cNvPr id="15" name="Text 13"/>
          <p:cNvSpPr/>
          <p:nvPr/>
        </p:nvSpPr>
        <p:spPr>
          <a:xfrm>
            <a:off x="4480560" y="3557016"/>
            <a:ext cx="7132320" cy="685800"/>
          </a:xfrm>
          <a:prstGeom prst="rect">
            <a:avLst/>
          </a:prstGeom>
          <a:noFill/>
          <a:ln/>
        </p:spPr>
        <p:txBody>
          <a:bodyPr wrap="square" lIns="0" tIns="0" rIns="0" bIns="0" rtlCol="0" anchor="ctr"/>
          <a:lstStyle/>
          <a:p>
            <a:pPr indent="0" marL="0">
              <a:buNone/>
            </a:pPr>
            <a:r>
              <a:rPr lang="en-US" sz="1400" dirty="0">
                <a:solidFill>
                  <a:srgbClr val="23262B"/>
                </a:solidFill>
                <a:latin typeface="Calibri" pitchFamily="34" charset="0"/>
                <a:ea typeface="Calibri" pitchFamily="34" charset="-122"/>
                <a:cs typeface="Calibri" pitchFamily="34" charset="-120"/>
              </a:rPr>
              <a:t>Top 8 states ≈ 81% of revenue; top 15 categories ≈ 81% of revenue.</a:t>
            </a:r>
            <a:endParaRPr lang="en-US" sz="1400" dirty="0"/>
          </a:p>
        </p:txBody>
      </p:sp>
      <p:sp>
        <p:nvSpPr>
          <p:cNvPr id="16" name="Shape 14"/>
          <p:cNvSpPr/>
          <p:nvPr/>
        </p:nvSpPr>
        <p:spPr>
          <a:xfrm>
            <a:off x="640080" y="4562856"/>
            <a:ext cx="502920" cy="502920"/>
          </a:xfrm>
          <a:prstGeom prst="ellipse">
            <a:avLst/>
          </a:prstGeom>
          <a:solidFill>
            <a:srgbClr val="13315C"/>
          </a:solidFill>
          <a:ln/>
        </p:spPr>
      </p:sp>
      <p:sp>
        <p:nvSpPr>
          <p:cNvPr id="17" name="Text 15"/>
          <p:cNvSpPr/>
          <p:nvPr/>
        </p:nvSpPr>
        <p:spPr>
          <a:xfrm>
            <a:off x="640080" y="456285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371600" y="4489704"/>
            <a:ext cx="3017520" cy="685800"/>
          </a:xfrm>
          <a:prstGeom prst="rect">
            <a:avLst/>
          </a:prstGeom>
          <a:noFill/>
          <a:ln/>
        </p:spPr>
        <p:txBody>
          <a:bodyPr wrap="square" lIns="0" tIns="0" rIns="0" bIns="0" rtlCol="0" anchor="ctr"/>
          <a:lstStyle/>
          <a:p>
            <a:pPr indent="0" marL="0">
              <a:buNone/>
            </a:pPr>
            <a:r>
              <a:rPr lang="en-US" sz="1700" b="1" dirty="0">
                <a:solidFill>
                  <a:srgbClr val="13315C"/>
                </a:solidFill>
                <a:latin typeface="Calibri" pitchFamily="34" charset="0"/>
                <a:ea typeface="Calibri" pitchFamily="34" charset="-122"/>
                <a:cs typeface="Calibri" pitchFamily="34" charset="-120"/>
              </a:rPr>
              <a:t>Concentrated supply</a:t>
            </a:r>
            <a:endParaRPr lang="en-US" sz="1700" dirty="0"/>
          </a:p>
        </p:txBody>
      </p:sp>
      <p:sp>
        <p:nvSpPr>
          <p:cNvPr id="19" name="Text 17"/>
          <p:cNvSpPr/>
          <p:nvPr/>
        </p:nvSpPr>
        <p:spPr>
          <a:xfrm>
            <a:off x="4480560" y="4489704"/>
            <a:ext cx="7132320" cy="685800"/>
          </a:xfrm>
          <a:prstGeom prst="rect">
            <a:avLst/>
          </a:prstGeom>
          <a:noFill/>
          <a:ln/>
        </p:spPr>
        <p:txBody>
          <a:bodyPr wrap="square" lIns="0" tIns="0" rIns="0" bIns="0" rtlCol="0" anchor="ctr"/>
          <a:lstStyle/>
          <a:p>
            <a:pPr indent="0" marL="0">
              <a:buNone/>
            </a:pPr>
            <a:r>
              <a:rPr lang="en-US" sz="1400" dirty="0">
                <a:solidFill>
                  <a:srgbClr val="23262B"/>
                </a:solidFill>
                <a:latin typeface="Calibri" pitchFamily="34" charset="0"/>
                <a:ea typeface="Calibri" pitchFamily="34" charset="-122"/>
                <a:cs typeface="Calibri" pitchFamily="34" charset="-120"/>
              </a:rPr>
              <a:t>Top Sellers — a small share of the base — generate over half of revenue.</a:t>
            </a:r>
            <a:endParaRPr lang="en-US" sz="1400" dirty="0"/>
          </a:p>
        </p:txBody>
      </p:sp>
      <p:sp>
        <p:nvSpPr>
          <p:cNvPr id="20" name="Shape 18"/>
          <p:cNvSpPr/>
          <p:nvPr/>
        </p:nvSpPr>
        <p:spPr>
          <a:xfrm>
            <a:off x="640080" y="5495544"/>
            <a:ext cx="502920" cy="502920"/>
          </a:xfrm>
          <a:prstGeom prst="ellipse">
            <a:avLst/>
          </a:prstGeom>
          <a:solidFill>
            <a:srgbClr val="E8792B"/>
          </a:solidFill>
          <a:ln/>
        </p:spPr>
      </p:sp>
      <p:sp>
        <p:nvSpPr>
          <p:cNvPr id="21" name="Text 19"/>
          <p:cNvSpPr/>
          <p:nvPr/>
        </p:nvSpPr>
        <p:spPr>
          <a:xfrm>
            <a:off x="640080" y="54955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371600" y="5422392"/>
            <a:ext cx="3017520" cy="685800"/>
          </a:xfrm>
          <a:prstGeom prst="rect">
            <a:avLst/>
          </a:prstGeom>
          <a:noFill/>
          <a:ln/>
        </p:spPr>
        <p:txBody>
          <a:bodyPr wrap="square" lIns="0" tIns="0" rIns="0" bIns="0" rtlCol="0" anchor="ctr"/>
          <a:lstStyle/>
          <a:p>
            <a:pPr indent="0" marL="0">
              <a:buNone/>
            </a:pPr>
            <a:r>
              <a:rPr lang="en-US" sz="1700" b="1" dirty="0">
                <a:solidFill>
                  <a:srgbClr val="13315C"/>
                </a:solidFill>
                <a:latin typeface="Calibri" pitchFamily="34" charset="0"/>
                <a:ea typeface="Calibri" pitchFamily="34" charset="-122"/>
                <a:cs typeface="Calibri" pitchFamily="34" charset="-120"/>
              </a:rPr>
              <a:t>Satisfied customers</a:t>
            </a:r>
            <a:endParaRPr lang="en-US" sz="1700" dirty="0"/>
          </a:p>
        </p:txBody>
      </p:sp>
      <p:sp>
        <p:nvSpPr>
          <p:cNvPr id="23" name="Text 21"/>
          <p:cNvSpPr/>
          <p:nvPr/>
        </p:nvSpPr>
        <p:spPr>
          <a:xfrm>
            <a:off x="4480560" y="5422392"/>
            <a:ext cx="7132320" cy="685800"/>
          </a:xfrm>
          <a:prstGeom prst="rect">
            <a:avLst/>
          </a:prstGeom>
          <a:noFill/>
          <a:ln/>
        </p:spPr>
        <p:txBody>
          <a:bodyPr wrap="square" lIns="0" tIns="0" rIns="0" bIns="0" rtlCol="0" anchor="ctr"/>
          <a:lstStyle/>
          <a:p>
            <a:pPr indent="0" marL="0">
              <a:buNone/>
            </a:pPr>
            <a:r>
              <a:rPr lang="en-US" sz="1400" dirty="0">
                <a:solidFill>
                  <a:srgbClr val="23262B"/>
                </a:solidFill>
                <a:latin typeface="Calibri" pitchFamily="34" charset="0"/>
                <a:ea typeface="Calibri" pitchFamily="34" charset="-122"/>
                <a:cs typeface="Calibri" pitchFamily="34" charset="-120"/>
              </a:rPr>
              <a:t>4.08/5 average rating, supported by improving delivery experience.</a:t>
            </a:r>
            <a:endParaRPr lang="en-US" sz="1400" dirty="0"/>
          </a:p>
        </p:txBody>
      </p:sp>
      <p:sp>
        <p:nvSpPr>
          <p:cNvPr id="24" name="Text 22"/>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244"/>
        </a:solidFill>
      </p:bgPr>
    </p:bg>
    <p:spTree>
      <p:nvGrpSpPr>
        <p:cNvPr id="1" name=""/>
        <p:cNvGrpSpPr/>
        <p:nvPr/>
      </p:nvGrpSpPr>
      <p:grpSpPr>
        <a:xfrm>
          <a:off x="0" y="0"/>
          <a:ext cx="0" cy="0"/>
          <a:chOff x="0" y="0"/>
          <a:chExt cx="0" cy="0"/>
        </a:xfrm>
      </p:grpSpPr>
      <p:sp>
        <p:nvSpPr>
          <p:cNvPr id="2" name="Shape 0"/>
          <p:cNvSpPr/>
          <p:nvPr/>
        </p:nvSpPr>
        <p:spPr>
          <a:xfrm>
            <a:off x="9692640" y="4572000"/>
            <a:ext cx="4754880" cy="4754880"/>
          </a:xfrm>
          <a:prstGeom prst="ellipse">
            <a:avLst/>
          </a:prstGeom>
          <a:solidFill>
            <a:srgbClr val="13315C"/>
          </a:solidFill>
          <a:ln/>
        </p:spPr>
      </p:sp>
      <p:sp>
        <p:nvSpPr>
          <p:cNvPr id="3" name="Text 1"/>
          <p:cNvSpPr/>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rgbClr val="E8792B"/>
                </a:solidFill>
                <a:latin typeface="Calibri" pitchFamily="34" charset="0"/>
                <a:ea typeface="Calibri" pitchFamily="34" charset="-122"/>
                <a:cs typeface="Calibri" pitchFamily="34" charset="-120"/>
              </a:rPr>
              <a:t>NEXT STEPS</a:t>
            </a:r>
            <a:endParaRPr lang="en-US" sz="1200" dirty="0"/>
          </a:p>
        </p:txBody>
      </p:sp>
      <p:sp>
        <p:nvSpPr>
          <p:cNvPr id="4" name="Text 2"/>
          <p:cNvSpPr/>
          <p:nvPr/>
        </p:nvSpPr>
        <p:spPr>
          <a:xfrm>
            <a:off x="548640" y="685800"/>
            <a:ext cx="110642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Six Recommendations to Sustain Growth</a:t>
            </a:r>
            <a:endParaRPr lang="en-US" sz="3200" dirty="0"/>
          </a:p>
        </p:txBody>
      </p:sp>
      <p:sp>
        <p:nvSpPr>
          <p:cNvPr id="5" name="Shape 3"/>
          <p:cNvSpPr/>
          <p:nvPr/>
        </p:nvSpPr>
        <p:spPr>
          <a:xfrm>
            <a:off x="548640" y="1600200"/>
            <a:ext cx="5440680" cy="1371600"/>
          </a:xfrm>
          <a:prstGeom prst="roundRect">
            <a:avLst>
              <a:gd name="adj" fmla="val 5333"/>
            </a:avLst>
          </a:prstGeom>
          <a:solidFill>
            <a:srgbClr val="13315C"/>
          </a:solidFill>
          <a:ln w="9525">
            <a:solidFill>
              <a:srgbClr val="2B4A7E"/>
            </a:solidFill>
            <a:prstDash val="solid"/>
          </a:ln>
        </p:spPr>
      </p:sp>
      <p:sp>
        <p:nvSpPr>
          <p:cNvPr id="6" name="Shape 4"/>
          <p:cNvSpPr/>
          <p:nvPr/>
        </p:nvSpPr>
        <p:spPr>
          <a:xfrm>
            <a:off x="749808" y="2002536"/>
            <a:ext cx="548640" cy="548640"/>
          </a:xfrm>
          <a:prstGeom prst="ellipse">
            <a:avLst/>
          </a:prstGeom>
          <a:solidFill>
            <a:srgbClr val="E8792B"/>
          </a:solidFill>
          <a:ln/>
        </p:spPr>
      </p:sp>
      <p:sp>
        <p:nvSpPr>
          <p:cNvPr id="7" name="Text 5"/>
          <p:cNvSpPr/>
          <p:nvPr/>
        </p:nvSpPr>
        <p:spPr>
          <a:xfrm>
            <a:off x="749808" y="200253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1463040" y="178308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Grow underperforming regions</a:t>
            </a:r>
            <a:endParaRPr lang="en-US" sz="1500" dirty="0"/>
          </a:p>
        </p:txBody>
      </p:sp>
      <p:sp>
        <p:nvSpPr>
          <p:cNvPr id="9" name="Text 7"/>
          <p:cNvSpPr/>
          <p:nvPr/>
        </p:nvSpPr>
        <p:spPr>
          <a:xfrm>
            <a:off x="1463040" y="2148840"/>
            <a:ext cx="4389120" cy="731520"/>
          </a:xfrm>
          <a:prstGeom prst="rect">
            <a:avLst/>
          </a:prstGeom>
          <a:noFill/>
          <a:ln/>
        </p:spPr>
        <p:txBody>
          <a:bodyPr wrap="square" lIns="0" tIns="0" rIns="0" bIns="0" rtlCol="0" anchor="ctr"/>
          <a:lstStyle/>
          <a:p>
            <a:pPr indent="0" marL="0">
              <a:buNone/>
            </a:pPr>
            <a:r>
              <a:rPr lang="en-US" sz="1150" dirty="0">
                <a:solidFill>
                  <a:srgbClr val="C9D8F2"/>
                </a:solidFill>
                <a:latin typeface="Calibri" pitchFamily="34" charset="0"/>
                <a:ea typeface="Calibri" pitchFamily="34" charset="-122"/>
                <a:cs typeface="Calibri" pitchFamily="34" charset="-120"/>
              </a:rPr>
              <a:t>Localized marketing, promotions, and seller acquisition beyond the top states.</a:t>
            </a:r>
            <a:endParaRPr lang="en-US" sz="1150" dirty="0"/>
          </a:p>
        </p:txBody>
      </p:sp>
      <p:sp>
        <p:nvSpPr>
          <p:cNvPr id="10" name="Shape 8"/>
          <p:cNvSpPr/>
          <p:nvPr/>
        </p:nvSpPr>
        <p:spPr>
          <a:xfrm>
            <a:off x="6355080" y="1600200"/>
            <a:ext cx="5440680" cy="1371600"/>
          </a:xfrm>
          <a:prstGeom prst="roundRect">
            <a:avLst>
              <a:gd name="adj" fmla="val 5333"/>
            </a:avLst>
          </a:prstGeom>
          <a:solidFill>
            <a:srgbClr val="13315C"/>
          </a:solidFill>
          <a:ln w="9525">
            <a:solidFill>
              <a:srgbClr val="2B4A7E"/>
            </a:solidFill>
            <a:prstDash val="solid"/>
          </a:ln>
        </p:spPr>
      </p:sp>
      <p:sp>
        <p:nvSpPr>
          <p:cNvPr id="11" name="Shape 9"/>
          <p:cNvSpPr/>
          <p:nvPr/>
        </p:nvSpPr>
        <p:spPr>
          <a:xfrm>
            <a:off x="6556248" y="2002536"/>
            <a:ext cx="548640" cy="548640"/>
          </a:xfrm>
          <a:prstGeom prst="ellipse">
            <a:avLst/>
          </a:prstGeom>
          <a:solidFill>
            <a:srgbClr val="E8792B"/>
          </a:solidFill>
          <a:ln/>
        </p:spPr>
      </p:sp>
      <p:sp>
        <p:nvSpPr>
          <p:cNvPr id="12" name="Text 10"/>
          <p:cNvSpPr/>
          <p:nvPr/>
        </p:nvSpPr>
        <p:spPr>
          <a:xfrm>
            <a:off x="6556248" y="200253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7269480" y="178308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 winning categories</a:t>
            </a:r>
            <a:endParaRPr lang="en-US" sz="1500" dirty="0"/>
          </a:p>
        </p:txBody>
      </p:sp>
      <p:sp>
        <p:nvSpPr>
          <p:cNvPr id="14" name="Text 12"/>
          <p:cNvSpPr/>
          <p:nvPr/>
        </p:nvSpPr>
        <p:spPr>
          <a:xfrm>
            <a:off x="7269480" y="2148840"/>
            <a:ext cx="4389120" cy="731520"/>
          </a:xfrm>
          <a:prstGeom prst="rect">
            <a:avLst/>
          </a:prstGeom>
          <a:noFill/>
          <a:ln/>
        </p:spPr>
        <p:txBody>
          <a:bodyPr wrap="square" lIns="0" tIns="0" rIns="0" bIns="0" rtlCol="0" anchor="ctr"/>
          <a:lstStyle/>
          <a:p>
            <a:pPr indent="0" marL="0">
              <a:buNone/>
            </a:pPr>
            <a:r>
              <a:rPr lang="en-US" sz="1150" dirty="0">
                <a:solidFill>
                  <a:srgbClr val="C9D8F2"/>
                </a:solidFill>
                <a:latin typeface="Calibri" pitchFamily="34" charset="0"/>
                <a:ea typeface="Calibri" pitchFamily="34" charset="-122"/>
                <a:cs typeface="Calibri" pitchFamily="34" charset="-120"/>
              </a:rPr>
              <a:t>Strengthen leaders; lift promising niches via promotion and visibility.</a:t>
            </a:r>
            <a:endParaRPr lang="en-US" sz="1150" dirty="0"/>
          </a:p>
        </p:txBody>
      </p:sp>
      <p:sp>
        <p:nvSpPr>
          <p:cNvPr id="15" name="Shape 13"/>
          <p:cNvSpPr/>
          <p:nvPr/>
        </p:nvSpPr>
        <p:spPr>
          <a:xfrm>
            <a:off x="548640" y="3200400"/>
            <a:ext cx="5440680" cy="1371600"/>
          </a:xfrm>
          <a:prstGeom prst="roundRect">
            <a:avLst>
              <a:gd name="adj" fmla="val 5333"/>
            </a:avLst>
          </a:prstGeom>
          <a:solidFill>
            <a:srgbClr val="13315C"/>
          </a:solidFill>
          <a:ln w="9525">
            <a:solidFill>
              <a:srgbClr val="2B4A7E"/>
            </a:solidFill>
            <a:prstDash val="solid"/>
          </a:ln>
        </p:spPr>
      </p:sp>
      <p:sp>
        <p:nvSpPr>
          <p:cNvPr id="16" name="Shape 14"/>
          <p:cNvSpPr/>
          <p:nvPr/>
        </p:nvSpPr>
        <p:spPr>
          <a:xfrm>
            <a:off x="749808" y="3602736"/>
            <a:ext cx="548640" cy="548640"/>
          </a:xfrm>
          <a:prstGeom prst="ellipse">
            <a:avLst/>
          </a:prstGeom>
          <a:solidFill>
            <a:srgbClr val="E8792B"/>
          </a:solidFill>
          <a:ln/>
        </p:spPr>
      </p:sp>
      <p:sp>
        <p:nvSpPr>
          <p:cNvPr id="17" name="Text 15"/>
          <p:cNvSpPr/>
          <p:nvPr/>
        </p:nvSpPr>
        <p:spPr>
          <a:xfrm>
            <a:off x="749808" y="360273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p:nvPr/>
        </p:nvSpPr>
        <p:spPr>
          <a:xfrm>
            <a:off x="1463040" y="338328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Retain Top Sellers</a:t>
            </a:r>
            <a:endParaRPr lang="en-US" sz="1500" dirty="0"/>
          </a:p>
        </p:txBody>
      </p:sp>
      <p:sp>
        <p:nvSpPr>
          <p:cNvPr id="19" name="Text 17"/>
          <p:cNvSpPr/>
          <p:nvPr/>
        </p:nvSpPr>
        <p:spPr>
          <a:xfrm>
            <a:off x="1463040" y="3749040"/>
            <a:ext cx="4389120" cy="731520"/>
          </a:xfrm>
          <a:prstGeom prst="rect">
            <a:avLst/>
          </a:prstGeom>
          <a:noFill/>
          <a:ln/>
        </p:spPr>
        <p:txBody>
          <a:bodyPr wrap="square" lIns="0" tIns="0" rIns="0" bIns="0" rtlCol="0" anchor="ctr"/>
          <a:lstStyle/>
          <a:p>
            <a:pPr indent="0" marL="0">
              <a:buNone/>
            </a:pPr>
            <a:r>
              <a:rPr lang="en-US" sz="1150" dirty="0">
                <a:solidFill>
                  <a:srgbClr val="C9D8F2"/>
                </a:solidFill>
                <a:latin typeface="Calibri" pitchFamily="34" charset="0"/>
                <a:ea typeface="Calibri" pitchFamily="34" charset="-122"/>
                <a:cs typeface="Calibri" pitchFamily="34" charset="-120"/>
              </a:rPr>
              <a:t>Loyalty programs, incentives, and dedicated support for the biggest contributors.</a:t>
            </a:r>
            <a:endParaRPr lang="en-US" sz="1150" dirty="0"/>
          </a:p>
        </p:txBody>
      </p:sp>
      <p:sp>
        <p:nvSpPr>
          <p:cNvPr id="20" name="Shape 18"/>
          <p:cNvSpPr/>
          <p:nvPr/>
        </p:nvSpPr>
        <p:spPr>
          <a:xfrm>
            <a:off x="6355080" y="3200400"/>
            <a:ext cx="5440680" cy="1371600"/>
          </a:xfrm>
          <a:prstGeom prst="roundRect">
            <a:avLst>
              <a:gd name="adj" fmla="val 5333"/>
            </a:avLst>
          </a:prstGeom>
          <a:solidFill>
            <a:srgbClr val="13315C"/>
          </a:solidFill>
          <a:ln w="9525">
            <a:solidFill>
              <a:srgbClr val="2B4A7E"/>
            </a:solidFill>
            <a:prstDash val="solid"/>
          </a:ln>
        </p:spPr>
      </p:sp>
      <p:sp>
        <p:nvSpPr>
          <p:cNvPr id="21" name="Shape 19"/>
          <p:cNvSpPr/>
          <p:nvPr/>
        </p:nvSpPr>
        <p:spPr>
          <a:xfrm>
            <a:off x="6556248" y="3602736"/>
            <a:ext cx="548640" cy="548640"/>
          </a:xfrm>
          <a:prstGeom prst="ellipse">
            <a:avLst/>
          </a:prstGeom>
          <a:solidFill>
            <a:srgbClr val="E8792B"/>
          </a:solidFill>
          <a:ln/>
        </p:spPr>
      </p:sp>
      <p:sp>
        <p:nvSpPr>
          <p:cNvPr id="22" name="Text 20"/>
          <p:cNvSpPr/>
          <p:nvPr/>
        </p:nvSpPr>
        <p:spPr>
          <a:xfrm>
            <a:off x="6556248" y="360273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1"/>
          <p:cNvSpPr/>
          <p:nvPr/>
        </p:nvSpPr>
        <p:spPr>
          <a:xfrm>
            <a:off x="7269480" y="338328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Develop emerging sellers</a:t>
            </a:r>
            <a:endParaRPr lang="en-US" sz="1500" dirty="0"/>
          </a:p>
        </p:txBody>
      </p:sp>
      <p:sp>
        <p:nvSpPr>
          <p:cNvPr id="24" name="Text 22"/>
          <p:cNvSpPr/>
          <p:nvPr/>
        </p:nvSpPr>
        <p:spPr>
          <a:xfrm>
            <a:off x="7269480" y="3749040"/>
            <a:ext cx="4389120" cy="731520"/>
          </a:xfrm>
          <a:prstGeom prst="rect">
            <a:avLst/>
          </a:prstGeom>
          <a:noFill/>
          <a:ln/>
        </p:spPr>
        <p:txBody>
          <a:bodyPr wrap="square" lIns="0" tIns="0" rIns="0" bIns="0" rtlCol="0" anchor="ctr"/>
          <a:lstStyle/>
          <a:p>
            <a:pPr indent="0" marL="0">
              <a:buNone/>
            </a:pPr>
            <a:r>
              <a:rPr lang="en-US" sz="1150" dirty="0">
                <a:solidFill>
                  <a:srgbClr val="C9D8F2"/>
                </a:solidFill>
                <a:latin typeface="Calibri" pitchFamily="34" charset="0"/>
                <a:ea typeface="Calibri" pitchFamily="34" charset="-122"/>
                <a:cs typeface="Calibri" pitchFamily="34" charset="-120"/>
              </a:rPr>
              <a:t>Training and operational guidance to reduce dependence on a small elite.</a:t>
            </a:r>
            <a:endParaRPr lang="en-US" sz="1150" dirty="0"/>
          </a:p>
        </p:txBody>
      </p:sp>
      <p:sp>
        <p:nvSpPr>
          <p:cNvPr id="25" name="Shape 23"/>
          <p:cNvSpPr/>
          <p:nvPr/>
        </p:nvSpPr>
        <p:spPr>
          <a:xfrm>
            <a:off x="548640" y="4800600"/>
            <a:ext cx="5440680" cy="1371600"/>
          </a:xfrm>
          <a:prstGeom prst="roundRect">
            <a:avLst>
              <a:gd name="adj" fmla="val 5333"/>
            </a:avLst>
          </a:prstGeom>
          <a:solidFill>
            <a:srgbClr val="13315C"/>
          </a:solidFill>
          <a:ln w="9525">
            <a:solidFill>
              <a:srgbClr val="2B4A7E"/>
            </a:solidFill>
            <a:prstDash val="solid"/>
          </a:ln>
        </p:spPr>
      </p:sp>
      <p:sp>
        <p:nvSpPr>
          <p:cNvPr id="26" name="Shape 24"/>
          <p:cNvSpPr/>
          <p:nvPr/>
        </p:nvSpPr>
        <p:spPr>
          <a:xfrm>
            <a:off x="749808" y="5202936"/>
            <a:ext cx="548640" cy="548640"/>
          </a:xfrm>
          <a:prstGeom prst="ellipse">
            <a:avLst/>
          </a:prstGeom>
          <a:solidFill>
            <a:srgbClr val="E8792B"/>
          </a:solidFill>
          <a:ln/>
        </p:spPr>
      </p:sp>
      <p:sp>
        <p:nvSpPr>
          <p:cNvPr id="27" name="Text 25"/>
          <p:cNvSpPr/>
          <p:nvPr/>
        </p:nvSpPr>
        <p:spPr>
          <a:xfrm>
            <a:off x="749808" y="520293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8" name="Text 26"/>
          <p:cNvSpPr/>
          <p:nvPr/>
        </p:nvSpPr>
        <p:spPr>
          <a:xfrm>
            <a:off x="1463040" y="498348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Keep optimizing logistics</a:t>
            </a:r>
            <a:endParaRPr lang="en-US" sz="1500" dirty="0"/>
          </a:p>
        </p:txBody>
      </p:sp>
      <p:sp>
        <p:nvSpPr>
          <p:cNvPr id="29" name="Text 27"/>
          <p:cNvSpPr/>
          <p:nvPr/>
        </p:nvSpPr>
        <p:spPr>
          <a:xfrm>
            <a:off x="1463040" y="5349240"/>
            <a:ext cx="4389120" cy="731520"/>
          </a:xfrm>
          <a:prstGeom prst="rect">
            <a:avLst/>
          </a:prstGeom>
          <a:noFill/>
          <a:ln/>
        </p:spPr>
        <p:txBody>
          <a:bodyPr wrap="square" lIns="0" tIns="0" rIns="0" bIns="0" rtlCol="0" anchor="ctr"/>
          <a:lstStyle/>
          <a:p>
            <a:pPr indent="0" marL="0">
              <a:buNone/>
            </a:pPr>
            <a:r>
              <a:rPr lang="en-US" sz="1150" dirty="0">
                <a:solidFill>
                  <a:srgbClr val="C9D8F2"/>
                </a:solidFill>
                <a:latin typeface="Calibri" pitchFamily="34" charset="0"/>
                <a:ea typeface="Calibri" pitchFamily="34" charset="-122"/>
                <a:cs typeface="Calibri" pitchFamily="34" charset="-120"/>
              </a:rPr>
              <a:t>Protect the on-time rate and push late deliveries below 8%.</a:t>
            </a:r>
            <a:endParaRPr lang="en-US" sz="1150" dirty="0"/>
          </a:p>
        </p:txBody>
      </p:sp>
      <p:sp>
        <p:nvSpPr>
          <p:cNvPr id="30" name="Shape 28"/>
          <p:cNvSpPr/>
          <p:nvPr/>
        </p:nvSpPr>
        <p:spPr>
          <a:xfrm>
            <a:off x="6355080" y="4800600"/>
            <a:ext cx="5440680" cy="1371600"/>
          </a:xfrm>
          <a:prstGeom prst="roundRect">
            <a:avLst>
              <a:gd name="adj" fmla="val 5333"/>
            </a:avLst>
          </a:prstGeom>
          <a:solidFill>
            <a:srgbClr val="13315C"/>
          </a:solidFill>
          <a:ln w="9525">
            <a:solidFill>
              <a:srgbClr val="2B4A7E"/>
            </a:solidFill>
            <a:prstDash val="solid"/>
          </a:ln>
        </p:spPr>
      </p:sp>
      <p:sp>
        <p:nvSpPr>
          <p:cNvPr id="31" name="Shape 29"/>
          <p:cNvSpPr/>
          <p:nvPr/>
        </p:nvSpPr>
        <p:spPr>
          <a:xfrm>
            <a:off x="6556248" y="5202936"/>
            <a:ext cx="548640" cy="548640"/>
          </a:xfrm>
          <a:prstGeom prst="ellipse">
            <a:avLst/>
          </a:prstGeom>
          <a:solidFill>
            <a:srgbClr val="E8792B"/>
          </a:solidFill>
          <a:ln/>
        </p:spPr>
      </p:sp>
      <p:sp>
        <p:nvSpPr>
          <p:cNvPr id="32" name="Text 30"/>
          <p:cNvSpPr/>
          <p:nvPr/>
        </p:nvSpPr>
        <p:spPr>
          <a:xfrm>
            <a:off x="6556248" y="520293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33" name="Text 31"/>
          <p:cNvSpPr/>
          <p:nvPr/>
        </p:nvSpPr>
        <p:spPr>
          <a:xfrm>
            <a:off x="7269480" y="498348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Operationalize the dashboard</a:t>
            </a:r>
            <a:endParaRPr lang="en-US" sz="1500" dirty="0"/>
          </a:p>
        </p:txBody>
      </p:sp>
      <p:sp>
        <p:nvSpPr>
          <p:cNvPr id="34" name="Text 32"/>
          <p:cNvSpPr/>
          <p:nvPr/>
        </p:nvSpPr>
        <p:spPr>
          <a:xfrm>
            <a:off x="7269480" y="5349240"/>
            <a:ext cx="4389120" cy="731520"/>
          </a:xfrm>
          <a:prstGeom prst="rect">
            <a:avLst/>
          </a:prstGeom>
          <a:noFill/>
          <a:ln/>
        </p:spPr>
        <p:txBody>
          <a:bodyPr wrap="square" lIns="0" tIns="0" rIns="0" bIns="0" rtlCol="0" anchor="ctr"/>
          <a:lstStyle/>
          <a:p>
            <a:pPr indent="0" marL="0">
              <a:buNone/>
            </a:pPr>
            <a:r>
              <a:rPr lang="en-US" sz="1150" dirty="0">
                <a:solidFill>
                  <a:srgbClr val="C9D8F2"/>
                </a:solidFill>
                <a:latin typeface="Calibri" pitchFamily="34" charset="0"/>
                <a:ea typeface="Calibri" pitchFamily="34" charset="-122"/>
                <a:cs typeface="Calibri" pitchFamily="34" charset="-120"/>
              </a:rPr>
              <a:t>Use Tableau for continuous KPI monitoring and proactive decisions.</a:t>
            </a:r>
            <a:endParaRPr lang="en-US" sz="1150" dirty="0"/>
          </a:p>
        </p:txBody>
      </p:sp>
      <p:sp>
        <p:nvSpPr>
          <p:cNvPr id="35" name="Text 33"/>
          <p:cNvSpPr/>
          <p:nvPr/>
        </p:nvSpPr>
        <p:spPr>
          <a:xfrm>
            <a:off x="548640" y="6400800"/>
            <a:ext cx="7315200" cy="320040"/>
          </a:xfrm>
          <a:prstGeom prst="rect">
            <a:avLst/>
          </a:prstGeom>
          <a:noFill/>
          <a:ln/>
        </p:spPr>
        <p:txBody>
          <a:bodyPr wrap="square" lIns="0" tIns="0" rIns="0" bIns="0" rtlCol="0" anchor="ctr"/>
          <a:lstStyle/>
          <a:p>
            <a:pPr indent="0" marL="0">
              <a:buNone/>
            </a:pPr>
            <a:r>
              <a:rPr lang="en-US" sz="1300" i="1" dirty="0">
                <a:solidFill>
                  <a:srgbClr val="8FB4EE"/>
                </a:solidFill>
                <a:latin typeface="Calibri" pitchFamily="34" charset="0"/>
                <a:ea typeface="Calibri" pitchFamily="34" charset="-122"/>
                <a:cs typeface="Calibri" pitchFamily="34" charset="-120"/>
              </a:rPr>
              <a:t>Thank you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2026-07-14T11:22:06Z</dcterms:created>
  <dcterms:modified xsi:type="dcterms:W3CDTF">2026-07-14T11:22:06Z</dcterms:modified>
</cp:coreProperties>
</file>